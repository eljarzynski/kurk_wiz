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9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044DCC-D2CE-4CCE-B7DD-395F48F34C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ACC2732-93ED-475F-ACF6-2F89A66835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25CC810-F71D-4B76-BA86-A4F8A8FB6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C2E0A-61F4-4432-A368-D14D030A0283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B301F52-23D6-4A4A-B660-D3F9C45AA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E561644-D5C3-40FD-8390-2ABD22305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52204-3C75-493E-97E5-BC8C48C11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755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BADD644-AC11-46BC-82EA-8456D6CE0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7E0CAE8-B7AC-45C6-84F1-81E3C4B5B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976A5DF-9667-4635-B07E-E301006FB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C2E0A-61F4-4432-A368-D14D030A0283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39F90F4-F656-404C-A15C-A7D997EA4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FAED5B0-8FDD-48AB-BA5E-755366455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52204-3C75-493E-97E5-BC8C48C11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432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CA0FF1E-0F5A-460A-94EF-2BF1BBA31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C2154655-F6FD-4D98-A73C-9F1247652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C221FAE-614B-40C9-8965-3A42B3A38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C2E0A-61F4-4432-A368-D14D030A0283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C217220-11E0-4FD8-9B16-E9B80E778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77E1CD3-EC16-496A-8281-B71216DE1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52204-3C75-493E-97E5-BC8C48C11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649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BEE443-5EA3-4A73-9645-0AFEE448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50D53AB-20BE-44E5-B68F-4E2CB812E4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5E0EB8D-D205-42D9-9024-7A2E27F609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848D46D-648F-4407-84C5-BF9D5E54B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C2E0A-61F4-4432-A368-D14D030A0283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F673C21-BAF6-4149-9E4D-D6A09A4E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2515C256-4420-4D31-AD87-F20246924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52204-3C75-493E-97E5-BC8C48C11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727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0E9DD09-BA9F-40DF-B1F1-58E32475B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B8B3FF5-09A3-4CE5-A250-B7483BBE5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AA0F089E-FEF4-451C-BBF7-F40F3A52A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22461969-3ADB-4660-83E9-85364FF7B8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60B0FDAF-49F5-413B-99E6-DA544130E0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3D5F947F-2E23-4678-80B7-50788E758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C2E0A-61F4-4432-A368-D14D030A0283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4404417F-A755-4B3D-9053-1BFFCA83C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213EE987-48BC-4FCB-A3E1-B6823BE86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52204-3C75-493E-97E5-BC8C48C11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802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44DCA7F-8109-42EC-9227-D4CD78960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1E03F3BD-2B83-4089-A35B-DEC2A1476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C2E0A-61F4-4432-A368-D14D030A0283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D9B21862-550F-41F5-9924-6BE727835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35491EE-0D8F-4A9C-96E6-4D95E58F8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52204-3C75-493E-97E5-BC8C48C11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797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2658E83F-E9A5-4E63-AD62-B31A5E222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C2E0A-61F4-4432-A368-D14D030A0283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FC2CA1EE-3539-4977-BDFA-82E9DE0FC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552C5B86-546D-42EA-A700-9E37E811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52204-3C75-493E-97E5-BC8C48C11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421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77D60D-05FF-4B52-A33F-B59EC2729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DD3BA70-C54B-47A3-BDD1-838348CDB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C475288-AF04-4AF7-93B4-07347B378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0D9FDC7-80BA-4645-B8CB-DF2048621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C2E0A-61F4-4432-A368-D14D030A0283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E213D746-5B36-4F9D-B0DE-2092E56A8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887385F-66AD-4F32-8901-148B1E06B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52204-3C75-493E-97E5-BC8C48C11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410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B8CDF2E-A7E2-42F9-BB1B-9DBE2B97D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9B3FE61D-B402-48E5-8CF4-4D3C32EACF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0AA4C2E-722F-4003-98D8-13F1A4EA67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77D8DBB-C64C-40E2-83C3-E346251D4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C2E0A-61F4-4432-A368-D14D030A0283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2059054-F83A-4275-B28B-C5A693541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B5AF373-B3C9-454C-933B-6070B9A0A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52204-3C75-493E-97E5-BC8C48C11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769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8F42F98-68E6-4436-926D-57CB2A83E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D7EAA32E-B504-45DA-B863-66AA377BF7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C57BACB-6A73-442E-A8B9-4B8CFE816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C2E0A-61F4-4432-A368-D14D030A0283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D128315-6920-4F73-902D-B71A3C5E8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BDB275E-EA87-46C0-9683-709B806CD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52204-3C75-493E-97E5-BC8C48C11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915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5990B032-B376-4CE1-9952-D69019BACB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68DC911C-3057-456B-9B3A-69D46C70CB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986F211-CC02-4286-B1F6-B0B549421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C2E0A-61F4-4432-A368-D14D030A0283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F853484-9E6D-4FFE-925F-95E1143E4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B6486B3-53C0-4E05-8B44-35E08A47A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52204-3C75-493E-97E5-BC8C48C11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419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FF4D8C43-E2B7-4848-8DED-B85A07483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E3FE768-2D0A-408F-A333-672355711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D06AE65-4282-449C-836E-16AF1DABCE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C2E0A-61F4-4432-A368-D14D030A0283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EBD6EA0-2B49-4082-B5E1-ABAEB8A65C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F565D39-6D04-488A-A2C2-0FCF100FCC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D52204-3C75-493E-97E5-BC8C48C11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235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ole tekstowe 8">
            <a:extLst>
              <a:ext uri="{FF2B5EF4-FFF2-40B4-BE49-F238E27FC236}">
                <a16:creationId xmlns:a16="http://schemas.microsoft.com/office/drawing/2014/main" id="{7235A72F-4BE9-4F7D-9E76-FF07B2D48E0E}"/>
              </a:ext>
            </a:extLst>
          </p:cNvPr>
          <p:cNvSpPr txBox="1"/>
          <p:nvPr/>
        </p:nvSpPr>
        <p:spPr>
          <a:xfrm>
            <a:off x="636814" y="3041284"/>
            <a:ext cx="65687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
Zestaw danych łączy średnie odległości między krajami i wskaźnik infekcji wirusem Covid-19 na milion osób (Covid </a:t>
            </a:r>
            <a:r>
              <a:rPr lang="pl-PL" dirty="0" err="1"/>
              <a:t>rate</a:t>
            </a:r>
            <a:r>
              <a:rPr lang="pl-PL" dirty="0"/>
              <a:t>) - </a:t>
            </a:r>
            <a:r>
              <a:rPr lang="pl-PL" b="1" dirty="0"/>
              <a:t>węzły.</a:t>
            </a:r>
            <a:r>
              <a:rPr lang="pl-PL" dirty="0"/>
              <a:t>  </a:t>
            </a:r>
          </a:p>
          <a:p>
            <a:r>
              <a:rPr lang="pl-PL" dirty="0"/>
              <a:t>Połączenia między </a:t>
            </a:r>
            <a:r>
              <a:rPr lang="pl-PL" dirty="0" err="1"/>
              <a:t>państami</a:t>
            </a:r>
            <a:r>
              <a:rPr lang="pl-PL" dirty="0"/>
              <a:t> przez wspólną granicę - </a:t>
            </a:r>
            <a:r>
              <a:rPr lang="pl-PL" b="1" dirty="0"/>
              <a:t>krawędzie
</a:t>
            </a:r>
            <a:endParaRPr lang="en-US" b="1" dirty="0"/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64385492-6C8B-B096-951C-A2772507D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676" y="2121695"/>
            <a:ext cx="3802692" cy="692935"/>
          </a:xfrm>
          <a:prstGeom prst="rect">
            <a:avLst/>
          </a:prstGeom>
        </p:spPr>
      </p:pic>
      <p:sp>
        <p:nvSpPr>
          <p:cNvPr id="2" name="pole tekstowe 1">
            <a:extLst>
              <a:ext uri="{FF2B5EF4-FFF2-40B4-BE49-F238E27FC236}">
                <a16:creationId xmlns:a16="http://schemas.microsoft.com/office/drawing/2014/main" id="{DDA099F4-30C3-14DB-A817-ECC4F870C514}"/>
              </a:ext>
            </a:extLst>
          </p:cNvPr>
          <p:cNvSpPr txBox="1"/>
          <p:nvPr/>
        </p:nvSpPr>
        <p:spPr>
          <a:xfrm>
            <a:off x="2199992" y="5088048"/>
            <a:ext cx="72427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b="1" dirty="0">
                <a:solidFill>
                  <a:srgbClr val="FF0000"/>
                </a:solidFill>
              </a:rPr>
              <a:t>ZADANIE</a:t>
            </a:r>
            <a:endParaRPr lang="en-GB" sz="2000" b="1" dirty="0">
              <a:solidFill>
                <a:srgbClr val="FF0000"/>
              </a:solidFill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402BD5C3-80CE-81A4-4A90-E023D71FB059}"/>
              </a:ext>
            </a:extLst>
          </p:cNvPr>
          <p:cNvSpPr txBox="1"/>
          <p:nvPr/>
        </p:nvSpPr>
        <p:spPr>
          <a:xfrm>
            <a:off x="1910281" y="5613149"/>
            <a:ext cx="9316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Przepisz poniższy kod i uzyskaj wszystkie zaznaczone </a:t>
            </a:r>
            <a:r>
              <a:rPr lang="pl-PL" dirty="0" err="1"/>
              <a:t>outputs</a:t>
            </a:r>
            <a:r>
              <a:rPr lang="pl-PL" dirty="0"/>
              <a:t>. Kod i </a:t>
            </a:r>
            <a:r>
              <a:rPr lang="pl-PL" dirty="0" err="1"/>
              <a:t>outputs</a:t>
            </a:r>
            <a:r>
              <a:rPr lang="pl-PL" dirty="0"/>
              <a:t> prześlij do TEAMS</a:t>
            </a:r>
            <a:endParaRPr lang="en-GB" dirty="0"/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FBA70DFE-97CF-4BDC-C550-CEE4DC7E0E8B}"/>
              </a:ext>
            </a:extLst>
          </p:cNvPr>
          <p:cNvSpPr txBox="1"/>
          <p:nvPr/>
        </p:nvSpPr>
        <p:spPr>
          <a:xfrm>
            <a:off x="636814" y="4406074"/>
            <a:ext cx="60975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dirty="0">
                <a:solidFill>
                  <a:srgbClr val="000000"/>
                </a:solidFill>
                <a:latin typeface="var(--jp-content-font-family)"/>
              </a:rPr>
              <a:t>waga</a:t>
            </a:r>
            <a:r>
              <a:rPr lang="pl-PL" dirty="0">
                <a:solidFill>
                  <a:srgbClr val="000000"/>
                </a:solidFill>
                <a:latin typeface="var(--jp-content-font-family)"/>
              </a:rPr>
              <a:t> = przybliżona długość granicy państwowej dla większego państwa
</a:t>
            </a:r>
            <a:endParaRPr lang="en-GB" dirty="0"/>
          </a:p>
        </p:txBody>
      </p:sp>
      <p:pic>
        <p:nvPicPr>
          <p:cNvPr id="13" name="Obraz 12">
            <a:extLst>
              <a:ext uri="{FF2B5EF4-FFF2-40B4-BE49-F238E27FC236}">
                <a16:creationId xmlns:a16="http://schemas.microsoft.com/office/drawing/2014/main" id="{181BC7A6-AC31-431C-2511-D8BF12374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2607" y="903719"/>
            <a:ext cx="3547768" cy="4510254"/>
          </a:xfrm>
          <a:prstGeom prst="rect">
            <a:avLst/>
          </a:prstGeom>
        </p:spPr>
      </p:pic>
      <p:cxnSp>
        <p:nvCxnSpPr>
          <p:cNvPr id="15" name="Łącznik prosty 14">
            <a:extLst>
              <a:ext uri="{FF2B5EF4-FFF2-40B4-BE49-F238E27FC236}">
                <a16:creationId xmlns:a16="http://schemas.microsoft.com/office/drawing/2014/main" id="{EE54B2FE-F9F5-5FAE-2471-4C1C49234A88}"/>
              </a:ext>
            </a:extLst>
          </p:cNvPr>
          <p:cNvCxnSpPr/>
          <p:nvPr/>
        </p:nvCxnSpPr>
        <p:spPr>
          <a:xfrm flipH="1" flipV="1">
            <a:off x="8754701" y="1982709"/>
            <a:ext cx="959667" cy="5884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Łącznik prosty 16">
            <a:extLst>
              <a:ext uri="{FF2B5EF4-FFF2-40B4-BE49-F238E27FC236}">
                <a16:creationId xmlns:a16="http://schemas.microsoft.com/office/drawing/2014/main" id="{371B265D-2C40-5318-5259-F4167FC4DDD2}"/>
              </a:ext>
            </a:extLst>
          </p:cNvPr>
          <p:cNvCxnSpPr/>
          <p:nvPr/>
        </p:nvCxnSpPr>
        <p:spPr>
          <a:xfrm flipV="1">
            <a:off x="8790915" y="1747612"/>
            <a:ext cx="362138" cy="1988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Łącznik prosty 18">
            <a:extLst>
              <a:ext uri="{FF2B5EF4-FFF2-40B4-BE49-F238E27FC236}">
                <a16:creationId xmlns:a16="http://schemas.microsoft.com/office/drawing/2014/main" id="{111B19C7-CFCB-1072-E1B6-5F3B52FB0360}"/>
              </a:ext>
            </a:extLst>
          </p:cNvPr>
          <p:cNvCxnSpPr>
            <a:cxnSpLocks/>
          </p:cNvCxnSpPr>
          <p:nvPr/>
        </p:nvCxnSpPr>
        <p:spPr>
          <a:xfrm flipH="1" flipV="1">
            <a:off x="9153053" y="1768827"/>
            <a:ext cx="561315" cy="8090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Łącznik prosty 20">
            <a:extLst>
              <a:ext uri="{FF2B5EF4-FFF2-40B4-BE49-F238E27FC236}">
                <a16:creationId xmlns:a16="http://schemas.microsoft.com/office/drawing/2014/main" id="{8CEB9EAB-D63B-3B80-B5FE-2F093301E41E}"/>
              </a:ext>
            </a:extLst>
          </p:cNvPr>
          <p:cNvCxnSpPr/>
          <p:nvPr/>
        </p:nvCxnSpPr>
        <p:spPr>
          <a:xfrm flipH="1">
            <a:off x="8600792" y="2571184"/>
            <a:ext cx="1113576" cy="1209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Łącznik prosty 22">
            <a:extLst>
              <a:ext uri="{FF2B5EF4-FFF2-40B4-BE49-F238E27FC236}">
                <a16:creationId xmlns:a16="http://schemas.microsoft.com/office/drawing/2014/main" id="{894711BC-F4A7-A787-DB3C-1289EC575810}"/>
              </a:ext>
            </a:extLst>
          </p:cNvPr>
          <p:cNvCxnSpPr/>
          <p:nvPr/>
        </p:nvCxnSpPr>
        <p:spPr>
          <a:xfrm flipH="1">
            <a:off x="9306962" y="2571184"/>
            <a:ext cx="407406" cy="5241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Łącznik prosty 24">
            <a:extLst>
              <a:ext uri="{FF2B5EF4-FFF2-40B4-BE49-F238E27FC236}">
                <a16:creationId xmlns:a16="http://schemas.microsoft.com/office/drawing/2014/main" id="{F88DECA7-79FC-611F-C1B5-28F774AC15DA}"/>
              </a:ext>
            </a:extLst>
          </p:cNvPr>
          <p:cNvCxnSpPr/>
          <p:nvPr/>
        </p:nvCxnSpPr>
        <p:spPr>
          <a:xfrm flipH="1">
            <a:off x="9587620" y="2571184"/>
            <a:ext cx="126748" cy="8578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Łącznik prosty 26">
            <a:extLst>
              <a:ext uri="{FF2B5EF4-FFF2-40B4-BE49-F238E27FC236}">
                <a16:creationId xmlns:a16="http://schemas.microsoft.com/office/drawing/2014/main" id="{31F43D55-78B0-2ED7-746A-0ACA11EE26C9}"/>
              </a:ext>
            </a:extLst>
          </p:cNvPr>
          <p:cNvCxnSpPr/>
          <p:nvPr/>
        </p:nvCxnSpPr>
        <p:spPr>
          <a:xfrm flipH="1">
            <a:off x="9270748" y="2592399"/>
            <a:ext cx="443620" cy="13639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Łącznik prosty 28">
            <a:extLst>
              <a:ext uri="{FF2B5EF4-FFF2-40B4-BE49-F238E27FC236}">
                <a16:creationId xmlns:a16="http://schemas.microsoft.com/office/drawing/2014/main" id="{633BBFEE-EBAC-5EFA-EE41-50F7A6DACEAE}"/>
              </a:ext>
            </a:extLst>
          </p:cNvPr>
          <p:cNvCxnSpPr/>
          <p:nvPr/>
        </p:nvCxnSpPr>
        <p:spPr>
          <a:xfrm>
            <a:off x="9714368" y="2607398"/>
            <a:ext cx="36214" cy="1334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Łącznik prosty 32">
            <a:extLst>
              <a:ext uri="{FF2B5EF4-FFF2-40B4-BE49-F238E27FC236}">
                <a16:creationId xmlns:a16="http://schemas.microsoft.com/office/drawing/2014/main" id="{6930B520-DA95-21DB-51AC-9EC60B57698C}"/>
              </a:ext>
            </a:extLst>
          </p:cNvPr>
          <p:cNvCxnSpPr/>
          <p:nvPr/>
        </p:nvCxnSpPr>
        <p:spPr>
          <a:xfrm flipV="1">
            <a:off x="8437830" y="1968149"/>
            <a:ext cx="316871" cy="3517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Łącznik prosty 34">
            <a:extLst>
              <a:ext uri="{FF2B5EF4-FFF2-40B4-BE49-F238E27FC236}">
                <a16:creationId xmlns:a16="http://schemas.microsoft.com/office/drawing/2014/main" id="{0966A48E-055B-E310-5B59-92D621DCA7CA}"/>
              </a:ext>
            </a:extLst>
          </p:cNvPr>
          <p:cNvCxnSpPr/>
          <p:nvPr/>
        </p:nvCxnSpPr>
        <p:spPr>
          <a:xfrm>
            <a:off x="8455937" y="2305381"/>
            <a:ext cx="144855" cy="3867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Łącznik prosty 36">
            <a:extLst>
              <a:ext uri="{FF2B5EF4-FFF2-40B4-BE49-F238E27FC236}">
                <a16:creationId xmlns:a16="http://schemas.microsoft.com/office/drawing/2014/main" id="{FF9A73AE-6B8D-BDD9-A298-AE3133CAEC80}"/>
              </a:ext>
            </a:extLst>
          </p:cNvPr>
          <p:cNvCxnSpPr/>
          <p:nvPr/>
        </p:nvCxnSpPr>
        <p:spPr>
          <a:xfrm>
            <a:off x="8600792" y="2705491"/>
            <a:ext cx="706170" cy="4608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Łącznik prosty 38">
            <a:extLst>
              <a:ext uri="{FF2B5EF4-FFF2-40B4-BE49-F238E27FC236}">
                <a16:creationId xmlns:a16="http://schemas.microsoft.com/office/drawing/2014/main" id="{C587D6C9-7F6F-64AB-6061-FEB32FE64391}"/>
              </a:ext>
            </a:extLst>
          </p:cNvPr>
          <p:cNvCxnSpPr/>
          <p:nvPr/>
        </p:nvCxnSpPr>
        <p:spPr>
          <a:xfrm flipV="1">
            <a:off x="9270748" y="3429000"/>
            <a:ext cx="316872" cy="5128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Łącznik prosty 40">
            <a:extLst>
              <a:ext uri="{FF2B5EF4-FFF2-40B4-BE49-F238E27FC236}">
                <a16:creationId xmlns:a16="http://schemas.microsoft.com/office/drawing/2014/main" id="{CEE654DD-A782-B1CB-F4AB-74E7E2C0F603}"/>
              </a:ext>
            </a:extLst>
          </p:cNvPr>
          <p:cNvCxnSpPr/>
          <p:nvPr/>
        </p:nvCxnSpPr>
        <p:spPr>
          <a:xfrm flipH="1" flipV="1">
            <a:off x="9306962" y="3116584"/>
            <a:ext cx="280658" cy="3336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Łącznik prosty 42">
            <a:extLst>
              <a:ext uri="{FF2B5EF4-FFF2-40B4-BE49-F238E27FC236}">
                <a16:creationId xmlns:a16="http://schemas.microsoft.com/office/drawing/2014/main" id="{E034B0A5-43FC-F9AD-19F9-97675429C7D7}"/>
              </a:ext>
            </a:extLst>
          </p:cNvPr>
          <p:cNvCxnSpPr/>
          <p:nvPr/>
        </p:nvCxnSpPr>
        <p:spPr>
          <a:xfrm flipH="1" flipV="1">
            <a:off x="8600792" y="2713372"/>
            <a:ext cx="362139" cy="10492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Łącznik prosty 44">
            <a:extLst>
              <a:ext uri="{FF2B5EF4-FFF2-40B4-BE49-F238E27FC236}">
                <a16:creationId xmlns:a16="http://schemas.microsoft.com/office/drawing/2014/main" id="{48C8F838-D91C-37AD-56E6-07D7FACFA406}"/>
              </a:ext>
            </a:extLst>
          </p:cNvPr>
          <p:cNvCxnSpPr/>
          <p:nvPr/>
        </p:nvCxnSpPr>
        <p:spPr>
          <a:xfrm flipV="1">
            <a:off x="8990090" y="3092739"/>
            <a:ext cx="280658" cy="6246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Łącznik prosty 46">
            <a:extLst>
              <a:ext uri="{FF2B5EF4-FFF2-40B4-BE49-F238E27FC236}">
                <a16:creationId xmlns:a16="http://schemas.microsoft.com/office/drawing/2014/main" id="{587B4772-3552-2D84-A90E-D72BB6603516}"/>
              </a:ext>
            </a:extLst>
          </p:cNvPr>
          <p:cNvCxnSpPr/>
          <p:nvPr/>
        </p:nvCxnSpPr>
        <p:spPr>
          <a:xfrm>
            <a:off x="8962931" y="3717428"/>
            <a:ext cx="325924" cy="179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Łącznik prosty 48">
            <a:extLst>
              <a:ext uri="{FF2B5EF4-FFF2-40B4-BE49-F238E27FC236}">
                <a16:creationId xmlns:a16="http://schemas.microsoft.com/office/drawing/2014/main" id="{2314BABC-1923-5FF9-C593-A7513CBFC1E4}"/>
              </a:ext>
            </a:extLst>
          </p:cNvPr>
          <p:cNvCxnSpPr>
            <a:cxnSpLocks/>
          </p:cNvCxnSpPr>
          <p:nvPr/>
        </p:nvCxnSpPr>
        <p:spPr>
          <a:xfrm flipH="1" flipV="1">
            <a:off x="9306962" y="3941804"/>
            <a:ext cx="443620" cy="212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Łącznik prosty 51">
            <a:extLst>
              <a:ext uri="{FF2B5EF4-FFF2-40B4-BE49-F238E27FC236}">
                <a16:creationId xmlns:a16="http://schemas.microsoft.com/office/drawing/2014/main" id="{42875FDB-A48F-CB76-950F-052AB51718AF}"/>
              </a:ext>
            </a:extLst>
          </p:cNvPr>
          <p:cNvCxnSpPr/>
          <p:nvPr/>
        </p:nvCxnSpPr>
        <p:spPr>
          <a:xfrm flipH="1">
            <a:off x="8618899" y="2032861"/>
            <a:ext cx="134807" cy="6580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pole tekstowe 53">
            <a:extLst>
              <a:ext uri="{FF2B5EF4-FFF2-40B4-BE49-F238E27FC236}">
                <a16:creationId xmlns:a16="http://schemas.microsoft.com/office/drawing/2014/main" id="{C6881D27-1F3A-A93B-7E51-8B2CFD568658}"/>
              </a:ext>
            </a:extLst>
          </p:cNvPr>
          <p:cNvSpPr txBox="1"/>
          <p:nvPr/>
        </p:nvSpPr>
        <p:spPr>
          <a:xfrm>
            <a:off x="2036676" y="1403287"/>
            <a:ext cx="364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Pliki do załadowania:</a:t>
            </a:r>
            <a:endParaRPr lang="en-GB" dirty="0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4EE3132E-DCF8-C294-F28F-DB0984844572}"/>
              </a:ext>
            </a:extLst>
          </p:cNvPr>
          <p:cNvSpPr txBox="1"/>
          <p:nvPr/>
        </p:nvSpPr>
        <p:spPr>
          <a:xfrm>
            <a:off x="1747319" y="226337"/>
            <a:ext cx="42279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>
                <a:solidFill>
                  <a:srgbClr val="FF0000"/>
                </a:solidFill>
              </a:rPr>
              <a:t>Analiza grafów w NETWORKX</a:t>
            </a:r>
            <a:endParaRPr lang="en-GB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9698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1B824955-8198-5253-BAE2-394F101BB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937" y="695325"/>
            <a:ext cx="7096125" cy="5467350"/>
          </a:xfrm>
          <a:prstGeom prst="rect">
            <a:avLst/>
          </a:prstGeom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AAD5A7EE-2603-744E-2A11-261012560BA4}"/>
              </a:ext>
            </a:extLst>
          </p:cNvPr>
          <p:cNvSpPr txBox="1"/>
          <p:nvPr/>
        </p:nvSpPr>
        <p:spPr>
          <a:xfrm>
            <a:off x="2716040" y="6346479"/>
            <a:ext cx="184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Output</a:t>
            </a:r>
            <a:endParaRPr lang="en-GB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4D6E1454-C2B5-44C7-9FAB-56B946629D65}"/>
              </a:ext>
            </a:extLst>
          </p:cNvPr>
          <p:cNvSpPr txBox="1"/>
          <p:nvPr/>
        </p:nvSpPr>
        <p:spPr>
          <a:xfrm>
            <a:off x="2716040" y="172016"/>
            <a:ext cx="3250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/>
              <a:t>Działania na grafach</a:t>
            </a:r>
            <a:endParaRPr lang="en-GB" sz="2800" b="1" dirty="0"/>
          </a:p>
        </p:txBody>
      </p:sp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97FEFFE2-249D-558C-9A28-80499FD2FEF9}"/>
              </a:ext>
            </a:extLst>
          </p:cNvPr>
          <p:cNvCxnSpPr/>
          <p:nvPr/>
        </p:nvCxnSpPr>
        <p:spPr>
          <a:xfrm>
            <a:off x="1385180" y="695236"/>
            <a:ext cx="1162757" cy="2734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ole tekstowe 6">
            <a:extLst>
              <a:ext uri="{FF2B5EF4-FFF2-40B4-BE49-F238E27FC236}">
                <a16:creationId xmlns:a16="http://schemas.microsoft.com/office/drawing/2014/main" id="{CAA99F1C-F191-B81A-D5D8-CDCE39EB6251}"/>
              </a:ext>
            </a:extLst>
          </p:cNvPr>
          <p:cNvSpPr txBox="1"/>
          <p:nvPr/>
        </p:nvSpPr>
        <p:spPr>
          <a:xfrm>
            <a:off x="325925" y="787651"/>
            <a:ext cx="1502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Zainstaluj </a:t>
            </a:r>
            <a:r>
              <a:rPr lang="pl-PL" dirty="0" err="1"/>
              <a:t>Networkx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7757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39A9AFE0-3D00-7406-037E-E72E5505B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987" y="361950"/>
            <a:ext cx="7820025" cy="6134100"/>
          </a:xfrm>
          <a:prstGeom prst="rect">
            <a:avLst/>
          </a:prstGeom>
        </p:spPr>
      </p:pic>
      <p:sp>
        <p:nvSpPr>
          <p:cNvPr id="4" name="Prostokąt 3">
            <a:extLst>
              <a:ext uri="{FF2B5EF4-FFF2-40B4-BE49-F238E27FC236}">
                <a16:creationId xmlns:a16="http://schemas.microsoft.com/office/drawing/2014/main" id="{D060DCD7-5502-0641-22FC-131EEEAFBA22}"/>
              </a:ext>
            </a:extLst>
          </p:cNvPr>
          <p:cNvSpPr/>
          <p:nvPr/>
        </p:nvSpPr>
        <p:spPr>
          <a:xfrm>
            <a:off x="2145671" y="1176950"/>
            <a:ext cx="4191755" cy="3078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422AB8C9-2DD2-329B-5312-4A441A9DE6E5}"/>
              </a:ext>
            </a:extLst>
          </p:cNvPr>
          <p:cNvSpPr/>
          <p:nvPr/>
        </p:nvSpPr>
        <p:spPr>
          <a:xfrm>
            <a:off x="2145671" y="2533461"/>
            <a:ext cx="4191755" cy="3078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900B1A12-FD73-27A3-7CC0-6706A67D620E}"/>
              </a:ext>
            </a:extLst>
          </p:cNvPr>
          <p:cNvSpPr/>
          <p:nvPr/>
        </p:nvSpPr>
        <p:spPr>
          <a:xfrm>
            <a:off x="2185987" y="3862813"/>
            <a:ext cx="4191755" cy="3078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AF166C41-0001-33CD-6F6B-D0AECA13F312}"/>
              </a:ext>
            </a:extLst>
          </p:cNvPr>
          <p:cNvSpPr/>
          <p:nvPr/>
        </p:nvSpPr>
        <p:spPr>
          <a:xfrm>
            <a:off x="2145671" y="5025522"/>
            <a:ext cx="4191755" cy="3078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C2B7165E-5BAD-F1DA-6F2E-C5D9415B4668}"/>
              </a:ext>
            </a:extLst>
          </p:cNvPr>
          <p:cNvSpPr/>
          <p:nvPr/>
        </p:nvSpPr>
        <p:spPr>
          <a:xfrm>
            <a:off x="2185987" y="6240858"/>
            <a:ext cx="4191755" cy="3078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B1450F88-747D-6DD3-101A-9D38134F0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810" y="4066515"/>
            <a:ext cx="4048125" cy="2533650"/>
          </a:xfrm>
          <a:prstGeom prst="rect">
            <a:avLst/>
          </a:prstGeom>
        </p:spPr>
      </p:pic>
      <p:sp>
        <p:nvSpPr>
          <p:cNvPr id="11" name="Prostokąt 10">
            <a:extLst>
              <a:ext uri="{FF2B5EF4-FFF2-40B4-BE49-F238E27FC236}">
                <a16:creationId xmlns:a16="http://schemas.microsoft.com/office/drawing/2014/main" id="{2B1BD427-01D9-2442-0752-415F0E9A7319}"/>
              </a:ext>
            </a:extLst>
          </p:cNvPr>
          <p:cNvSpPr/>
          <p:nvPr/>
        </p:nvSpPr>
        <p:spPr>
          <a:xfrm>
            <a:off x="6337426" y="5035424"/>
            <a:ext cx="4191755" cy="3078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C1B53518-8A1A-CB20-E049-CD5BC8B0A9CB}"/>
              </a:ext>
            </a:extLst>
          </p:cNvPr>
          <p:cNvSpPr/>
          <p:nvPr/>
        </p:nvSpPr>
        <p:spPr>
          <a:xfrm>
            <a:off x="7368483" y="6250760"/>
            <a:ext cx="4191755" cy="3078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Łącznik: zakrzywiony 13">
            <a:extLst>
              <a:ext uri="{FF2B5EF4-FFF2-40B4-BE49-F238E27FC236}">
                <a16:creationId xmlns:a16="http://schemas.microsoft.com/office/drawing/2014/main" id="{B1FA83BE-227D-8DCE-B5C7-535A4FA7FFEE}"/>
              </a:ext>
            </a:extLst>
          </p:cNvPr>
          <p:cNvCxnSpPr>
            <a:cxnSpLocks/>
          </p:cNvCxnSpPr>
          <p:nvPr/>
        </p:nvCxnSpPr>
        <p:spPr>
          <a:xfrm flipV="1">
            <a:off x="5097100" y="3889972"/>
            <a:ext cx="2779418" cy="236078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9710C194-F31B-46D4-3E65-511A0BB3CD2D}"/>
              </a:ext>
            </a:extLst>
          </p:cNvPr>
          <p:cNvSpPr txBox="1"/>
          <p:nvPr/>
        </p:nvSpPr>
        <p:spPr>
          <a:xfrm>
            <a:off x="2232669" y="1186085"/>
            <a:ext cx="184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Output</a:t>
            </a:r>
            <a:endParaRPr lang="en-GB" dirty="0"/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1F881D72-655F-A962-8A36-4E43851CD1FF}"/>
              </a:ext>
            </a:extLst>
          </p:cNvPr>
          <p:cNvSpPr txBox="1"/>
          <p:nvPr/>
        </p:nvSpPr>
        <p:spPr>
          <a:xfrm>
            <a:off x="2232669" y="2529204"/>
            <a:ext cx="184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Output</a:t>
            </a:r>
            <a:endParaRPr lang="en-GB" dirty="0"/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40CD4862-41C5-E36F-A410-1E8C8D463140}"/>
              </a:ext>
            </a:extLst>
          </p:cNvPr>
          <p:cNvSpPr txBox="1"/>
          <p:nvPr/>
        </p:nvSpPr>
        <p:spPr>
          <a:xfrm>
            <a:off x="7474060" y="6230833"/>
            <a:ext cx="184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Output</a:t>
            </a:r>
            <a:endParaRPr lang="en-GB" dirty="0"/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4C91F418-CAEA-34BF-AD20-6EF72076A8DC}"/>
              </a:ext>
            </a:extLst>
          </p:cNvPr>
          <p:cNvSpPr txBox="1"/>
          <p:nvPr/>
        </p:nvSpPr>
        <p:spPr>
          <a:xfrm>
            <a:off x="7509849" y="4931309"/>
            <a:ext cx="184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Output</a:t>
            </a:r>
            <a:endParaRPr lang="en-GB" dirty="0"/>
          </a:p>
        </p:txBody>
      </p: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A28E3C4A-14C0-0D30-86D9-DF798FB80B6F}"/>
              </a:ext>
            </a:extLst>
          </p:cNvPr>
          <p:cNvSpPr txBox="1"/>
          <p:nvPr/>
        </p:nvSpPr>
        <p:spPr>
          <a:xfrm>
            <a:off x="2434957" y="6210101"/>
            <a:ext cx="184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Output</a:t>
            </a:r>
            <a:endParaRPr lang="en-GB" dirty="0"/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91201D94-1927-ADF2-5199-722D9C222982}"/>
              </a:ext>
            </a:extLst>
          </p:cNvPr>
          <p:cNvSpPr txBox="1"/>
          <p:nvPr/>
        </p:nvSpPr>
        <p:spPr>
          <a:xfrm>
            <a:off x="2375569" y="5078149"/>
            <a:ext cx="184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Output</a:t>
            </a:r>
            <a:endParaRPr lang="en-GB" dirty="0"/>
          </a:p>
        </p:txBody>
      </p: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FA970BB6-ABE9-CA04-0F92-B6B4F195C7D9}"/>
              </a:ext>
            </a:extLst>
          </p:cNvPr>
          <p:cNvSpPr txBox="1"/>
          <p:nvPr/>
        </p:nvSpPr>
        <p:spPr>
          <a:xfrm>
            <a:off x="2360125" y="3889972"/>
            <a:ext cx="184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Output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5714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D0B77E12-D441-242B-973A-F2538DA21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507" y="185125"/>
            <a:ext cx="3362325" cy="476250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D8F438B3-D65F-A0BC-8AD6-8CA1E38ED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692" y="735169"/>
            <a:ext cx="6096000" cy="2943225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6B5DB1A9-7DF6-E2B7-22CA-E6CF48F7616B}"/>
              </a:ext>
            </a:extLst>
          </p:cNvPr>
          <p:cNvSpPr txBox="1"/>
          <p:nvPr/>
        </p:nvSpPr>
        <p:spPr>
          <a:xfrm>
            <a:off x="2634559" y="3752188"/>
            <a:ext cx="184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Output</a:t>
            </a:r>
            <a:endParaRPr lang="en-GB" dirty="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1A34EBA7-3FFC-C3E7-4B22-F5DD903EA1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3504" y="4195314"/>
            <a:ext cx="6048375" cy="1524000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EB833D06-B2FF-298A-4C82-1DB591765AB9}"/>
              </a:ext>
            </a:extLst>
          </p:cNvPr>
          <p:cNvSpPr txBox="1"/>
          <p:nvPr/>
        </p:nvSpPr>
        <p:spPr>
          <a:xfrm>
            <a:off x="2634558" y="5938165"/>
            <a:ext cx="184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Output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8500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00147503-5AFA-D96A-FF93-9D42AD9495A0}"/>
              </a:ext>
            </a:extLst>
          </p:cNvPr>
          <p:cNvSpPr txBox="1"/>
          <p:nvPr/>
        </p:nvSpPr>
        <p:spPr>
          <a:xfrm>
            <a:off x="3047246" y="99726"/>
            <a:ext cx="6097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400" b="1" i="0" dirty="0">
                <a:effectLst/>
                <a:latin typeface="-apple-system"/>
              </a:rPr>
              <a:t>Creating real undirected graph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A8102794-2EED-FFB2-B90C-697F665E2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853" y="657760"/>
            <a:ext cx="6467475" cy="438150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104C9E5B-786F-841F-EFFE-63ECE1A0C73D}"/>
              </a:ext>
            </a:extLst>
          </p:cNvPr>
          <p:cNvSpPr txBox="1"/>
          <p:nvPr/>
        </p:nvSpPr>
        <p:spPr>
          <a:xfrm>
            <a:off x="2426327" y="1164729"/>
            <a:ext cx="184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Output</a:t>
            </a:r>
            <a:endParaRPr lang="en-GB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E8EBE0C3-CD5A-B2B2-2EF9-8F60970A79A0}"/>
              </a:ext>
            </a:extLst>
          </p:cNvPr>
          <p:cNvSpPr txBox="1"/>
          <p:nvPr/>
        </p:nvSpPr>
        <p:spPr>
          <a:xfrm>
            <a:off x="2426327" y="3507880"/>
            <a:ext cx="184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Output</a:t>
            </a:r>
            <a:endParaRPr lang="en-GB" dirty="0"/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E545DBC9-9FAF-98F8-5A25-90CFE7E75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952" y="1602880"/>
            <a:ext cx="6134100" cy="1905000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410E1AC4-83D0-8401-DE02-1D607FE13C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7786" y="3825183"/>
            <a:ext cx="7572375" cy="2647950"/>
          </a:xfrm>
          <a:prstGeom prst="rect">
            <a:avLst/>
          </a:prstGeom>
        </p:spPr>
      </p:pic>
      <p:sp>
        <p:nvSpPr>
          <p:cNvPr id="12" name="pole tekstowe 11">
            <a:extLst>
              <a:ext uri="{FF2B5EF4-FFF2-40B4-BE49-F238E27FC236}">
                <a16:creationId xmlns:a16="http://schemas.microsoft.com/office/drawing/2014/main" id="{45FD3D89-0DFB-FA4B-735E-2F0D287ABECD}"/>
              </a:ext>
            </a:extLst>
          </p:cNvPr>
          <p:cNvSpPr txBox="1"/>
          <p:nvPr/>
        </p:nvSpPr>
        <p:spPr>
          <a:xfrm>
            <a:off x="2343337" y="6437286"/>
            <a:ext cx="184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Output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2782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002E05FD-1955-B4EA-325C-2E5D0C0EE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5121" y="454169"/>
            <a:ext cx="4162425" cy="962025"/>
          </a:xfrm>
          <a:prstGeom prst="rect">
            <a:avLst/>
          </a:prstGeom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5F33CF1D-3B8F-84C6-EF31-938BE03CDB02}"/>
              </a:ext>
            </a:extLst>
          </p:cNvPr>
          <p:cNvSpPr txBox="1"/>
          <p:nvPr/>
        </p:nvSpPr>
        <p:spPr>
          <a:xfrm>
            <a:off x="2393213" y="1416194"/>
            <a:ext cx="184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Output</a:t>
            </a:r>
            <a:endParaRPr lang="en-GB" dirty="0"/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9712E8AF-A3D5-D6D1-148C-662D5E6B2906}"/>
              </a:ext>
            </a:extLst>
          </p:cNvPr>
          <p:cNvSpPr txBox="1"/>
          <p:nvPr/>
        </p:nvSpPr>
        <p:spPr>
          <a:xfrm>
            <a:off x="1947583" y="2910121"/>
            <a:ext cx="693868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400" b="1" dirty="0">
                <a:solidFill>
                  <a:srgbClr val="000000"/>
                </a:solidFill>
                <a:latin typeface="var(--jp-content-font-family)"/>
              </a:rPr>
              <a:t>Przykładowy </a:t>
            </a:r>
            <a:r>
              <a:rPr lang="pl-PL" sz="2400" b="1" dirty="0" err="1">
                <a:solidFill>
                  <a:srgbClr val="000000"/>
                </a:solidFill>
                <a:latin typeface="var(--jp-content-font-family)"/>
              </a:rPr>
              <a:t>graph</a:t>
            </a:r>
            <a:r>
              <a:rPr lang="pl-PL" sz="2400" b="1" dirty="0">
                <a:solidFill>
                  <a:srgbClr val="000000"/>
                </a:solidFill>
                <a:latin typeface="var(--jp-content-font-family)"/>
              </a:rPr>
              <a:t> ważony</a:t>
            </a:r>
            <a:r>
              <a:rPr lang="pl-PL" b="1" dirty="0">
                <a:solidFill>
                  <a:srgbClr val="000000"/>
                </a:solidFill>
                <a:latin typeface="var(--jp-content-font-family)"/>
              </a:rPr>
              <a:t>
</a:t>
            </a:r>
            <a:r>
              <a:rPr lang="pl-PL" dirty="0">
                <a:solidFill>
                  <a:srgbClr val="000000"/>
                </a:solidFill>
                <a:latin typeface="var(--jp-content-font-family)"/>
              </a:rPr>
              <a:t>waga = przybliżona długość granicy państwowej dla większego państwa
</a:t>
            </a:r>
            <a:endParaRPr lang="en-GB" i="0" dirty="0">
              <a:solidFill>
                <a:srgbClr val="000000"/>
              </a:solidFill>
              <a:effectLst/>
              <a:latin typeface="var(--jp-content-font-family)"/>
            </a:endParaRP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89769B5C-2C42-E8CF-78EE-B6A2661B4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424" y="3925784"/>
            <a:ext cx="323850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030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EDE6FD0A-A9BC-3A4B-4111-C388B2FB5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662" y="0"/>
            <a:ext cx="5846885" cy="6858000"/>
          </a:xfrm>
          <a:prstGeom prst="rect">
            <a:avLst/>
          </a:prstGeom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5B40C4EC-6E1B-BD84-C8DD-6D2957E48FF9}"/>
              </a:ext>
            </a:extLst>
          </p:cNvPr>
          <p:cNvSpPr txBox="1"/>
          <p:nvPr/>
        </p:nvSpPr>
        <p:spPr>
          <a:xfrm>
            <a:off x="7261048" y="6488668"/>
            <a:ext cx="184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Output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4481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2C0621FF-DB6F-7C76-F413-18BECBD294CC}"/>
              </a:ext>
            </a:extLst>
          </p:cNvPr>
          <p:cNvSpPr txBox="1"/>
          <p:nvPr/>
        </p:nvSpPr>
        <p:spPr>
          <a:xfrm>
            <a:off x="4282889" y="0"/>
            <a:ext cx="60915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400" b="1" i="0" dirty="0">
                <a:effectLst/>
                <a:latin typeface="-apple-system"/>
              </a:rPr>
              <a:t>Graph layouts examples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E169E116-31F3-A41E-5CA0-41E0B16A9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640" y="872938"/>
            <a:ext cx="520065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809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7922EE4E-2CF8-B4DF-8365-8F3746D33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246" y="0"/>
            <a:ext cx="3408662" cy="6858000"/>
          </a:xfrm>
          <a:prstGeom prst="rect">
            <a:avLst/>
          </a:prstGeom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1ACAFCE5-3EB2-08FF-0421-E0E419767A28}"/>
              </a:ext>
            </a:extLst>
          </p:cNvPr>
          <p:cNvSpPr txBox="1"/>
          <p:nvPr/>
        </p:nvSpPr>
        <p:spPr>
          <a:xfrm>
            <a:off x="7261048" y="6488668"/>
            <a:ext cx="184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Output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03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2AFA20BD-D5DA-AF25-F17D-824D9DEBBD78}"/>
              </a:ext>
            </a:extLst>
          </p:cNvPr>
          <p:cNvSpPr txBox="1"/>
          <p:nvPr/>
        </p:nvSpPr>
        <p:spPr>
          <a:xfrm>
            <a:off x="3449170" y="0"/>
            <a:ext cx="60915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400" b="1" i="0" dirty="0">
                <a:effectLst/>
                <a:latin typeface="-apple-system"/>
              </a:rPr>
              <a:t>Node and Edges important attributes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66947337-F9CA-E359-B359-8511E89FCF30}"/>
              </a:ext>
            </a:extLst>
          </p:cNvPr>
          <p:cNvSpPr txBox="1"/>
          <p:nvPr/>
        </p:nvSpPr>
        <p:spPr>
          <a:xfrm>
            <a:off x="1900645" y="5780319"/>
            <a:ext cx="184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Output</a:t>
            </a:r>
            <a:endParaRPr lang="en-GB" dirty="0"/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91CB9EF0-20E8-A415-54F9-9E8D463F4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967" y="606392"/>
            <a:ext cx="5419725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363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56243A7-5131-4715-31BE-9F1009B1C004}"/>
              </a:ext>
            </a:extLst>
          </p:cNvPr>
          <p:cNvSpPr txBox="1"/>
          <p:nvPr/>
        </p:nvSpPr>
        <p:spPr>
          <a:xfrm>
            <a:off x="2177970" y="4866414"/>
            <a:ext cx="184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Output</a:t>
            </a:r>
            <a:endParaRPr lang="en-GB" dirty="0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D33C6A5C-BD61-B934-34C8-C97C5B131D52}"/>
              </a:ext>
            </a:extLst>
          </p:cNvPr>
          <p:cNvSpPr txBox="1"/>
          <p:nvPr/>
        </p:nvSpPr>
        <p:spPr>
          <a:xfrm>
            <a:off x="2796624" y="282159"/>
            <a:ext cx="6097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400" b="1" i="0" dirty="0">
                <a:solidFill>
                  <a:srgbClr val="000000"/>
                </a:solidFill>
                <a:effectLst/>
                <a:latin typeface="Helvetica Neue"/>
              </a:rPr>
              <a:t>Important whole graph metrics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57DC746C-AC0C-C801-7469-9A1B2499C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175" y="1027947"/>
            <a:ext cx="6136965" cy="3871312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5D190020-F9FB-038A-5BDC-E45CDA9A0FB9}"/>
              </a:ext>
            </a:extLst>
          </p:cNvPr>
          <p:cNvSpPr txBox="1"/>
          <p:nvPr/>
        </p:nvSpPr>
        <p:spPr>
          <a:xfrm>
            <a:off x="2177970" y="2826231"/>
            <a:ext cx="1846907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l-PL" dirty="0" err="1"/>
              <a:t>Output</a:t>
            </a:r>
            <a:endParaRPr lang="pl-PL" dirty="0"/>
          </a:p>
          <a:p>
            <a:endParaRPr lang="pl-PL" dirty="0"/>
          </a:p>
          <a:p>
            <a:endParaRPr lang="en-GB" dirty="0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A8F8D954-E884-A2D8-ABC4-30587A353CD1}"/>
              </a:ext>
            </a:extLst>
          </p:cNvPr>
          <p:cNvSpPr txBox="1"/>
          <p:nvPr/>
        </p:nvSpPr>
        <p:spPr>
          <a:xfrm>
            <a:off x="2127173" y="4135920"/>
            <a:ext cx="184690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l-PL" dirty="0" err="1"/>
              <a:t>Output</a:t>
            </a:r>
            <a:endParaRPr lang="en-GB" dirty="0"/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F50E3442-C20C-556A-9395-78AAD64A90ED}"/>
              </a:ext>
            </a:extLst>
          </p:cNvPr>
          <p:cNvSpPr txBox="1"/>
          <p:nvPr/>
        </p:nvSpPr>
        <p:spPr>
          <a:xfrm>
            <a:off x="2127174" y="2070540"/>
            <a:ext cx="184690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l-PL" dirty="0" err="1"/>
              <a:t>Output</a:t>
            </a:r>
            <a:endParaRPr lang="en-GB" dirty="0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7385D4F5-72EE-2F10-BE26-05BBD2909E58}"/>
              </a:ext>
            </a:extLst>
          </p:cNvPr>
          <p:cNvSpPr txBox="1"/>
          <p:nvPr/>
        </p:nvSpPr>
        <p:spPr>
          <a:xfrm>
            <a:off x="2127175" y="1314849"/>
            <a:ext cx="184690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l-PL" dirty="0" err="1"/>
              <a:t>Output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334690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46F4382C69AAF4891EE0A579E04F27B" ma:contentTypeVersion="10" ma:contentTypeDescription="Utwórz nowy dokument." ma:contentTypeScope="" ma:versionID="4106b21b293632e25874e1dd80702ecb">
  <xsd:schema xmlns:xsd="http://www.w3.org/2001/XMLSchema" xmlns:xs="http://www.w3.org/2001/XMLSchema" xmlns:p="http://schemas.microsoft.com/office/2006/metadata/properties" xmlns:ns2="ae989b61-c228-4e23-ae61-9e60e2e810f3" xmlns:ns3="e94efa4c-2d07-4643-827b-c53d5f18f328" targetNamespace="http://schemas.microsoft.com/office/2006/metadata/properties" ma:root="true" ma:fieldsID="587a32a468b92b3bbf2ec3c5a92db8fb" ns2:_="" ns3:_="">
    <xsd:import namespace="ae989b61-c228-4e23-ae61-9e60e2e810f3"/>
    <xsd:import namespace="e94efa4c-2d07-4643-827b-c53d5f18f32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989b61-c228-4e23-ae61-9e60e2e810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Tagi obrazów" ma:readOnly="false" ma:fieldId="{5cf76f15-5ced-4ddc-b409-7134ff3c332f}" ma:taxonomyMulti="true" ma:sspId="99f285bf-9bc8-44af-a2ef-b39ca4f7da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4efa4c-2d07-4643-827b-c53d5f18f32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b4419e2-253f-4d63-9198-f5afb3422db4}" ma:internalName="TaxCatchAll" ma:showField="CatchAllData" ma:web="e94efa4c-2d07-4643-827b-c53d5f18f32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94efa4c-2d07-4643-827b-c53d5f18f328" xsi:nil="true"/>
    <lcf76f155ced4ddcb4097134ff3c332f xmlns="ae989b61-c228-4e23-ae61-9e60e2e810f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2F8863A-DF9B-45C4-A81E-40C838C8A497}"/>
</file>

<file path=customXml/itemProps2.xml><?xml version="1.0" encoding="utf-8"?>
<ds:datastoreItem xmlns:ds="http://schemas.openxmlformats.org/officeDocument/2006/customXml" ds:itemID="{BAEF9E88-5C8F-4FBE-81F2-494220DF5615}"/>
</file>

<file path=customXml/itemProps3.xml><?xml version="1.0" encoding="utf-8"?>
<ds:datastoreItem xmlns:ds="http://schemas.openxmlformats.org/officeDocument/2006/customXml" ds:itemID="{9599D1B6-B1E4-4520-8938-3E5FCFFC9C55}"/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123</Words>
  <Application>Microsoft Office PowerPoint</Application>
  <PresentationFormat>Panoramiczny</PresentationFormat>
  <Paragraphs>36</Paragraphs>
  <Slides>11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11</vt:i4>
      </vt:variant>
    </vt:vector>
  </HeadingPairs>
  <TitlesOfParts>
    <vt:vector size="18" baseType="lpstr">
      <vt:lpstr>-apple-system</vt:lpstr>
      <vt:lpstr>Arial</vt:lpstr>
      <vt:lpstr>Calibri</vt:lpstr>
      <vt:lpstr>Calibri Light</vt:lpstr>
      <vt:lpstr>Helvetica Neue</vt:lpstr>
      <vt:lpstr>var(--jp-content-font-family)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Użytkownik systemu Windows</dc:creator>
  <cp:lastModifiedBy>Marek Kruk</cp:lastModifiedBy>
  <cp:revision>9</cp:revision>
  <dcterms:created xsi:type="dcterms:W3CDTF">2020-05-06T12:29:40Z</dcterms:created>
  <dcterms:modified xsi:type="dcterms:W3CDTF">2025-12-16T19:17:52Z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0x010100346F4382C69AAF4891EE0A579E04F27B</vt:lpwstr>
  </property>
</Properties>
</file>