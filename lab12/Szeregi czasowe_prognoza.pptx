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310" r:id="rId5"/>
    <p:sldId id="257" r:id="rId6"/>
    <p:sldId id="258" r:id="rId7"/>
    <p:sldId id="259" r:id="rId8"/>
    <p:sldId id="260" r:id="rId9"/>
    <p:sldId id="261" r:id="rId10"/>
    <p:sldId id="262" r:id="rId11"/>
    <p:sldId id="311"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9DA12D-C4AB-53CE-E89A-7C3E9A689115}" v="5" dt="2026-01-21T11:41:10.5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Majewski" userId="S::166292@student.uwm.edu.pl::4d3b7deb-535b-4365-9500-e4a3cda6488b" providerId="AD" clId="Web-{519DA12D-C4AB-53CE-E89A-7C3E9A689115}"/>
    <pc:docChg chg="addSld delSld">
      <pc:chgData name="Gabriel Majewski" userId="S::166292@student.uwm.edu.pl::4d3b7deb-535b-4365-9500-e4a3cda6488b" providerId="AD" clId="Web-{519DA12D-C4AB-53CE-E89A-7C3E9A689115}" dt="2026-01-21T11:41:09.973" v="1"/>
      <pc:docMkLst>
        <pc:docMk/>
      </pc:docMkLst>
      <pc:sldChg chg="add del">
        <pc:chgData name="Gabriel Majewski" userId="S::166292@student.uwm.edu.pl::4d3b7deb-535b-4365-9500-e4a3cda6488b" providerId="AD" clId="Web-{519DA12D-C4AB-53CE-E89A-7C3E9A689115}" dt="2026-01-21T11:41:09.973" v="1"/>
        <pc:sldMkLst>
          <pc:docMk/>
          <pc:sldMk cId="1014975689" sldId="26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3DC5BC0-0778-8239-4D41-62D10F44F9C0}"/>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endParaRPr lang="en-GB"/>
          </a:p>
        </p:txBody>
      </p:sp>
      <p:sp>
        <p:nvSpPr>
          <p:cNvPr id="3" name="Podtytuł 2">
            <a:extLst>
              <a:ext uri="{FF2B5EF4-FFF2-40B4-BE49-F238E27FC236}">
                <a16:creationId xmlns:a16="http://schemas.microsoft.com/office/drawing/2014/main" id="{AD3F3961-3844-6207-FA8E-BA21B02749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GB"/>
          </a:p>
        </p:txBody>
      </p:sp>
      <p:sp>
        <p:nvSpPr>
          <p:cNvPr id="4" name="Symbol zastępczy daty 3">
            <a:extLst>
              <a:ext uri="{FF2B5EF4-FFF2-40B4-BE49-F238E27FC236}">
                <a16:creationId xmlns:a16="http://schemas.microsoft.com/office/drawing/2014/main" id="{9500143F-1954-5088-3DDB-DDC852B20683}"/>
              </a:ext>
            </a:extLst>
          </p:cNvPr>
          <p:cNvSpPr>
            <a:spLocks noGrp="1"/>
          </p:cNvSpPr>
          <p:nvPr>
            <p:ph type="dt" sz="half" idx="10"/>
          </p:nvPr>
        </p:nvSpPr>
        <p:spPr/>
        <p:txBody>
          <a:bodyPr/>
          <a:lstStyle/>
          <a:p>
            <a:fld id="{155C56A5-446F-41F4-8698-33205CF41043}" type="datetimeFigureOut">
              <a:rPr lang="en-GB" smtClean="0"/>
              <a:t>21/01/2026</a:t>
            </a:fld>
            <a:endParaRPr lang="en-GB"/>
          </a:p>
        </p:txBody>
      </p:sp>
      <p:sp>
        <p:nvSpPr>
          <p:cNvPr id="5" name="Symbol zastępczy stopki 4">
            <a:extLst>
              <a:ext uri="{FF2B5EF4-FFF2-40B4-BE49-F238E27FC236}">
                <a16:creationId xmlns:a16="http://schemas.microsoft.com/office/drawing/2014/main" id="{FB77AE40-B1BB-CB57-C3BD-3A8947BB8C08}"/>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B5418694-B1C8-76F6-EC56-0CD2D03D412F}"/>
              </a:ext>
            </a:extLst>
          </p:cNvPr>
          <p:cNvSpPr>
            <a:spLocks noGrp="1"/>
          </p:cNvSpPr>
          <p:nvPr>
            <p:ph type="sldNum" sz="quarter" idx="12"/>
          </p:nvPr>
        </p:nvSpPr>
        <p:spPr/>
        <p:txBody>
          <a:bodyPr/>
          <a:lstStyle/>
          <a:p>
            <a:fld id="{C76C38E6-43A8-4A9C-83E6-8C920C2C40FA}" type="slidenum">
              <a:rPr lang="en-GB" smtClean="0"/>
              <a:t>‹#›</a:t>
            </a:fld>
            <a:endParaRPr lang="en-GB"/>
          </a:p>
        </p:txBody>
      </p:sp>
    </p:spTree>
    <p:extLst>
      <p:ext uri="{BB962C8B-B14F-4D97-AF65-F5344CB8AC3E}">
        <p14:creationId xmlns:p14="http://schemas.microsoft.com/office/powerpoint/2010/main" val="71586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34DD71F-A1EE-49A8-392F-5D58439925C0}"/>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DB1B5C7A-83AC-70A1-1971-A44F7C983302}"/>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7ABD8D86-9275-1AC5-6CBB-8FA746DAF8C5}"/>
              </a:ext>
            </a:extLst>
          </p:cNvPr>
          <p:cNvSpPr>
            <a:spLocks noGrp="1"/>
          </p:cNvSpPr>
          <p:nvPr>
            <p:ph type="dt" sz="half" idx="10"/>
          </p:nvPr>
        </p:nvSpPr>
        <p:spPr/>
        <p:txBody>
          <a:bodyPr/>
          <a:lstStyle/>
          <a:p>
            <a:fld id="{155C56A5-446F-41F4-8698-33205CF41043}" type="datetimeFigureOut">
              <a:rPr lang="en-GB" smtClean="0"/>
              <a:t>21/01/2026</a:t>
            </a:fld>
            <a:endParaRPr lang="en-GB"/>
          </a:p>
        </p:txBody>
      </p:sp>
      <p:sp>
        <p:nvSpPr>
          <p:cNvPr id="5" name="Symbol zastępczy stopki 4">
            <a:extLst>
              <a:ext uri="{FF2B5EF4-FFF2-40B4-BE49-F238E27FC236}">
                <a16:creationId xmlns:a16="http://schemas.microsoft.com/office/drawing/2014/main" id="{27434018-0049-17E3-381A-8A81D4ED169E}"/>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68D63EEE-0E9C-F5E9-539F-7E6FF0982BEC}"/>
              </a:ext>
            </a:extLst>
          </p:cNvPr>
          <p:cNvSpPr>
            <a:spLocks noGrp="1"/>
          </p:cNvSpPr>
          <p:nvPr>
            <p:ph type="sldNum" sz="quarter" idx="12"/>
          </p:nvPr>
        </p:nvSpPr>
        <p:spPr/>
        <p:txBody>
          <a:bodyPr/>
          <a:lstStyle/>
          <a:p>
            <a:fld id="{C76C38E6-43A8-4A9C-83E6-8C920C2C40FA}" type="slidenum">
              <a:rPr lang="en-GB" smtClean="0"/>
              <a:t>‹#›</a:t>
            </a:fld>
            <a:endParaRPr lang="en-GB"/>
          </a:p>
        </p:txBody>
      </p:sp>
    </p:spTree>
    <p:extLst>
      <p:ext uri="{BB962C8B-B14F-4D97-AF65-F5344CB8AC3E}">
        <p14:creationId xmlns:p14="http://schemas.microsoft.com/office/powerpoint/2010/main" val="63210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9129F74-5C7D-7531-7BF8-F1877831A4BB}"/>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endParaRPr lang="en-GB"/>
          </a:p>
        </p:txBody>
      </p:sp>
      <p:sp>
        <p:nvSpPr>
          <p:cNvPr id="3" name="Symbol zastępczy tekstu 2">
            <a:extLst>
              <a:ext uri="{FF2B5EF4-FFF2-40B4-BE49-F238E27FC236}">
                <a16:creationId xmlns:a16="http://schemas.microsoft.com/office/drawing/2014/main" id="{7964D12A-4A96-FF82-8E8D-C8E8C35784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2FA98A73-74F6-F51F-3F0E-A70B3690CC82}"/>
              </a:ext>
            </a:extLst>
          </p:cNvPr>
          <p:cNvSpPr>
            <a:spLocks noGrp="1"/>
          </p:cNvSpPr>
          <p:nvPr>
            <p:ph type="dt" sz="half" idx="10"/>
          </p:nvPr>
        </p:nvSpPr>
        <p:spPr/>
        <p:txBody>
          <a:bodyPr/>
          <a:lstStyle/>
          <a:p>
            <a:fld id="{155C56A5-446F-41F4-8698-33205CF41043}" type="datetimeFigureOut">
              <a:rPr lang="en-GB" smtClean="0"/>
              <a:t>21/01/2026</a:t>
            </a:fld>
            <a:endParaRPr lang="en-GB"/>
          </a:p>
        </p:txBody>
      </p:sp>
      <p:sp>
        <p:nvSpPr>
          <p:cNvPr id="5" name="Symbol zastępczy stopki 4">
            <a:extLst>
              <a:ext uri="{FF2B5EF4-FFF2-40B4-BE49-F238E27FC236}">
                <a16:creationId xmlns:a16="http://schemas.microsoft.com/office/drawing/2014/main" id="{1EB459B4-8521-788F-808D-BA5F54817010}"/>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BA2B7002-51D8-F799-196D-86965C20A156}"/>
              </a:ext>
            </a:extLst>
          </p:cNvPr>
          <p:cNvSpPr>
            <a:spLocks noGrp="1"/>
          </p:cNvSpPr>
          <p:nvPr>
            <p:ph type="sldNum" sz="quarter" idx="12"/>
          </p:nvPr>
        </p:nvSpPr>
        <p:spPr/>
        <p:txBody>
          <a:bodyPr/>
          <a:lstStyle/>
          <a:p>
            <a:fld id="{C76C38E6-43A8-4A9C-83E6-8C920C2C40FA}" type="slidenum">
              <a:rPr lang="en-GB" smtClean="0"/>
              <a:t>‹#›</a:t>
            </a:fld>
            <a:endParaRPr lang="en-GB"/>
          </a:p>
        </p:txBody>
      </p:sp>
    </p:spTree>
    <p:extLst>
      <p:ext uri="{BB962C8B-B14F-4D97-AF65-F5344CB8AC3E}">
        <p14:creationId xmlns:p14="http://schemas.microsoft.com/office/powerpoint/2010/main" val="3447057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AC3C380-5840-55B6-B8F8-15C8DC930B93}"/>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045725F0-2371-9D03-8524-2BBE56267208}"/>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a:extLst>
              <a:ext uri="{FF2B5EF4-FFF2-40B4-BE49-F238E27FC236}">
                <a16:creationId xmlns:a16="http://schemas.microsoft.com/office/drawing/2014/main" id="{335D4A33-D359-123E-C22D-5BBAF2B99973}"/>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a:extLst>
              <a:ext uri="{FF2B5EF4-FFF2-40B4-BE49-F238E27FC236}">
                <a16:creationId xmlns:a16="http://schemas.microsoft.com/office/drawing/2014/main" id="{F940FED8-B7D1-9E51-01DF-1C8636D585F3}"/>
              </a:ext>
            </a:extLst>
          </p:cNvPr>
          <p:cNvSpPr>
            <a:spLocks noGrp="1"/>
          </p:cNvSpPr>
          <p:nvPr>
            <p:ph type="dt" sz="half" idx="10"/>
          </p:nvPr>
        </p:nvSpPr>
        <p:spPr/>
        <p:txBody>
          <a:bodyPr/>
          <a:lstStyle/>
          <a:p>
            <a:fld id="{155C56A5-446F-41F4-8698-33205CF41043}" type="datetimeFigureOut">
              <a:rPr lang="en-GB" smtClean="0"/>
              <a:t>21/01/2026</a:t>
            </a:fld>
            <a:endParaRPr lang="en-GB"/>
          </a:p>
        </p:txBody>
      </p:sp>
      <p:sp>
        <p:nvSpPr>
          <p:cNvPr id="6" name="Symbol zastępczy stopki 5">
            <a:extLst>
              <a:ext uri="{FF2B5EF4-FFF2-40B4-BE49-F238E27FC236}">
                <a16:creationId xmlns:a16="http://schemas.microsoft.com/office/drawing/2014/main" id="{073EE735-5438-AD1D-2083-4B96851E2087}"/>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3E818A2F-1CEE-5341-CF85-5AAF05A4804C}"/>
              </a:ext>
            </a:extLst>
          </p:cNvPr>
          <p:cNvSpPr>
            <a:spLocks noGrp="1"/>
          </p:cNvSpPr>
          <p:nvPr>
            <p:ph type="sldNum" sz="quarter" idx="12"/>
          </p:nvPr>
        </p:nvSpPr>
        <p:spPr/>
        <p:txBody>
          <a:bodyPr/>
          <a:lstStyle/>
          <a:p>
            <a:fld id="{C76C38E6-43A8-4A9C-83E6-8C920C2C40FA}" type="slidenum">
              <a:rPr lang="en-GB" smtClean="0"/>
              <a:t>‹#›</a:t>
            </a:fld>
            <a:endParaRPr lang="en-GB"/>
          </a:p>
        </p:txBody>
      </p:sp>
    </p:spTree>
    <p:extLst>
      <p:ext uri="{BB962C8B-B14F-4D97-AF65-F5344CB8AC3E}">
        <p14:creationId xmlns:p14="http://schemas.microsoft.com/office/powerpoint/2010/main" val="227746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4303FC0-2E00-7C5A-C9F1-498719FA88E1}"/>
              </a:ext>
            </a:extLst>
          </p:cNvPr>
          <p:cNvSpPr>
            <a:spLocks noGrp="1"/>
          </p:cNvSpPr>
          <p:nvPr>
            <p:ph type="title"/>
          </p:nvPr>
        </p:nvSpPr>
        <p:spPr>
          <a:xfrm>
            <a:off x="839788" y="365125"/>
            <a:ext cx="10515600" cy="1325563"/>
          </a:xfrm>
        </p:spPr>
        <p:txBody>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F0E0A965-BEEB-D70E-995F-E8FFEEB0E0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8B404065-934E-2B38-7162-0F443F9FFEC9}"/>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a:extLst>
              <a:ext uri="{FF2B5EF4-FFF2-40B4-BE49-F238E27FC236}">
                <a16:creationId xmlns:a16="http://schemas.microsoft.com/office/drawing/2014/main" id="{0896DB89-7CD6-EA6A-C2DA-58DE86802F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C8595A2A-38BE-31A8-1061-AACF8EF2214F}"/>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a:extLst>
              <a:ext uri="{FF2B5EF4-FFF2-40B4-BE49-F238E27FC236}">
                <a16:creationId xmlns:a16="http://schemas.microsoft.com/office/drawing/2014/main" id="{A16A33E5-AC21-4987-1C8F-6B58710C4BDC}"/>
              </a:ext>
            </a:extLst>
          </p:cNvPr>
          <p:cNvSpPr>
            <a:spLocks noGrp="1"/>
          </p:cNvSpPr>
          <p:nvPr>
            <p:ph type="dt" sz="half" idx="10"/>
          </p:nvPr>
        </p:nvSpPr>
        <p:spPr/>
        <p:txBody>
          <a:bodyPr/>
          <a:lstStyle/>
          <a:p>
            <a:fld id="{155C56A5-446F-41F4-8698-33205CF41043}" type="datetimeFigureOut">
              <a:rPr lang="en-GB" smtClean="0"/>
              <a:t>21/01/2026</a:t>
            </a:fld>
            <a:endParaRPr lang="en-GB"/>
          </a:p>
        </p:txBody>
      </p:sp>
      <p:sp>
        <p:nvSpPr>
          <p:cNvPr id="8" name="Symbol zastępczy stopki 7">
            <a:extLst>
              <a:ext uri="{FF2B5EF4-FFF2-40B4-BE49-F238E27FC236}">
                <a16:creationId xmlns:a16="http://schemas.microsoft.com/office/drawing/2014/main" id="{B2D05150-7C98-0157-3AC9-42DE96A08A1E}"/>
              </a:ext>
            </a:extLst>
          </p:cNvPr>
          <p:cNvSpPr>
            <a:spLocks noGrp="1"/>
          </p:cNvSpPr>
          <p:nvPr>
            <p:ph type="ftr" sz="quarter" idx="11"/>
          </p:nvPr>
        </p:nvSpPr>
        <p:spPr/>
        <p:txBody>
          <a:bodyPr/>
          <a:lstStyle/>
          <a:p>
            <a:endParaRPr lang="en-GB"/>
          </a:p>
        </p:txBody>
      </p:sp>
      <p:sp>
        <p:nvSpPr>
          <p:cNvPr id="9" name="Symbol zastępczy numeru slajdu 8">
            <a:extLst>
              <a:ext uri="{FF2B5EF4-FFF2-40B4-BE49-F238E27FC236}">
                <a16:creationId xmlns:a16="http://schemas.microsoft.com/office/drawing/2014/main" id="{2E1EF6D7-8C91-FEA3-8EDB-4CD93142342F}"/>
              </a:ext>
            </a:extLst>
          </p:cNvPr>
          <p:cNvSpPr>
            <a:spLocks noGrp="1"/>
          </p:cNvSpPr>
          <p:nvPr>
            <p:ph type="sldNum" sz="quarter" idx="12"/>
          </p:nvPr>
        </p:nvSpPr>
        <p:spPr/>
        <p:txBody>
          <a:bodyPr/>
          <a:lstStyle/>
          <a:p>
            <a:fld id="{C76C38E6-43A8-4A9C-83E6-8C920C2C40FA}" type="slidenum">
              <a:rPr lang="en-GB" smtClean="0"/>
              <a:t>‹#›</a:t>
            </a:fld>
            <a:endParaRPr lang="en-GB"/>
          </a:p>
        </p:txBody>
      </p:sp>
    </p:spTree>
    <p:extLst>
      <p:ext uri="{BB962C8B-B14F-4D97-AF65-F5344CB8AC3E}">
        <p14:creationId xmlns:p14="http://schemas.microsoft.com/office/powerpoint/2010/main" val="2316294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06643F8-C0F0-CD4C-F17C-CA3A4E71FBEB}"/>
              </a:ext>
            </a:extLst>
          </p:cNvPr>
          <p:cNvSpPr>
            <a:spLocks noGrp="1"/>
          </p:cNvSpPr>
          <p:nvPr>
            <p:ph type="title"/>
          </p:nvPr>
        </p:nvSpPr>
        <p:spPr/>
        <p:txBody>
          <a:bodyPr/>
          <a:lstStyle/>
          <a:p>
            <a:r>
              <a:rPr lang="pl-PL"/>
              <a:t>Kliknij, aby edytować styl</a:t>
            </a:r>
            <a:endParaRPr lang="en-GB"/>
          </a:p>
        </p:txBody>
      </p:sp>
      <p:sp>
        <p:nvSpPr>
          <p:cNvPr id="3" name="Symbol zastępczy daty 2">
            <a:extLst>
              <a:ext uri="{FF2B5EF4-FFF2-40B4-BE49-F238E27FC236}">
                <a16:creationId xmlns:a16="http://schemas.microsoft.com/office/drawing/2014/main" id="{302A4F32-EFEA-7697-14A6-9E957FD13F0B}"/>
              </a:ext>
            </a:extLst>
          </p:cNvPr>
          <p:cNvSpPr>
            <a:spLocks noGrp="1"/>
          </p:cNvSpPr>
          <p:nvPr>
            <p:ph type="dt" sz="half" idx="10"/>
          </p:nvPr>
        </p:nvSpPr>
        <p:spPr/>
        <p:txBody>
          <a:bodyPr/>
          <a:lstStyle/>
          <a:p>
            <a:fld id="{155C56A5-446F-41F4-8698-33205CF41043}" type="datetimeFigureOut">
              <a:rPr lang="en-GB" smtClean="0"/>
              <a:t>21/01/2026</a:t>
            </a:fld>
            <a:endParaRPr lang="en-GB"/>
          </a:p>
        </p:txBody>
      </p:sp>
      <p:sp>
        <p:nvSpPr>
          <p:cNvPr id="4" name="Symbol zastępczy stopki 3">
            <a:extLst>
              <a:ext uri="{FF2B5EF4-FFF2-40B4-BE49-F238E27FC236}">
                <a16:creationId xmlns:a16="http://schemas.microsoft.com/office/drawing/2014/main" id="{97269E1B-AD64-F792-555D-D22B9CF895FA}"/>
              </a:ext>
            </a:extLst>
          </p:cNvPr>
          <p:cNvSpPr>
            <a:spLocks noGrp="1"/>
          </p:cNvSpPr>
          <p:nvPr>
            <p:ph type="ftr" sz="quarter" idx="11"/>
          </p:nvPr>
        </p:nvSpPr>
        <p:spPr/>
        <p:txBody>
          <a:bodyPr/>
          <a:lstStyle/>
          <a:p>
            <a:endParaRPr lang="en-GB"/>
          </a:p>
        </p:txBody>
      </p:sp>
      <p:sp>
        <p:nvSpPr>
          <p:cNvPr id="5" name="Symbol zastępczy numeru slajdu 4">
            <a:extLst>
              <a:ext uri="{FF2B5EF4-FFF2-40B4-BE49-F238E27FC236}">
                <a16:creationId xmlns:a16="http://schemas.microsoft.com/office/drawing/2014/main" id="{A9E582AE-7AB0-54A3-A09D-879507E8A60F}"/>
              </a:ext>
            </a:extLst>
          </p:cNvPr>
          <p:cNvSpPr>
            <a:spLocks noGrp="1"/>
          </p:cNvSpPr>
          <p:nvPr>
            <p:ph type="sldNum" sz="quarter" idx="12"/>
          </p:nvPr>
        </p:nvSpPr>
        <p:spPr/>
        <p:txBody>
          <a:bodyPr/>
          <a:lstStyle/>
          <a:p>
            <a:fld id="{C76C38E6-43A8-4A9C-83E6-8C920C2C40FA}" type="slidenum">
              <a:rPr lang="en-GB" smtClean="0"/>
              <a:t>‹#›</a:t>
            </a:fld>
            <a:endParaRPr lang="en-GB"/>
          </a:p>
        </p:txBody>
      </p:sp>
    </p:spTree>
    <p:extLst>
      <p:ext uri="{BB962C8B-B14F-4D97-AF65-F5344CB8AC3E}">
        <p14:creationId xmlns:p14="http://schemas.microsoft.com/office/powerpoint/2010/main" val="2709530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EF9B1D8D-3022-BAA3-8F8D-C9713D02D56D}"/>
              </a:ext>
            </a:extLst>
          </p:cNvPr>
          <p:cNvSpPr>
            <a:spLocks noGrp="1"/>
          </p:cNvSpPr>
          <p:nvPr>
            <p:ph type="dt" sz="half" idx="10"/>
          </p:nvPr>
        </p:nvSpPr>
        <p:spPr/>
        <p:txBody>
          <a:bodyPr/>
          <a:lstStyle/>
          <a:p>
            <a:fld id="{155C56A5-446F-41F4-8698-33205CF41043}" type="datetimeFigureOut">
              <a:rPr lang="en-GB" smtClean="0"/>
              <a:t>21/01/2026</a:t>
            </a:fld>
            <a:endParaRPr lang="en-GB"/>
          </a:p>
        </p:txBody>
      </p:sp>
      <p:sp>
        <p:nvSpPr>
          <p:cNvPr id="3" name="Symbol zastępczy stopki 2">
            <a:extLst>
              <a:ext uri="{FF2B5EF4-FFF2-40B4-BE49-F238E27FC236}">
                <a16:creationId xmlns:a16="http://schemas.microsoft.com/office/drawing/2014/main" id="{87A01066-CFB5-2D8D-7EED-3AFE359B6CD9}"/>
              </a:ext>
            </a:extLst>
          </p:cNvPr>
          <p:cNvSpPr>
            <a:spLocks noGrp="1"/>
          </p:cNvSpPr>
          <p:nvPr>
            <p:ph type="ftr" sz="quarter" idx="11"/>
          </p:nvPr>
        </p:nvSpPr>
        <p:spPr/>
        <p:txBody>
          <a:bodyPr/>
          <a:lstStyle/>
          <a:p>
            <a:endParaRPr lang="en-GB"/>
          </a:p>
        </p:txBody>
      </p:sp>
      <p:sp>
        <p:nvSpPr>
          <p:cNvPr id="4" name="Symbol zastępczy numeru slajdu 3">
            <a:extLst>
              <a:ext uri="{FF2B5EF4-FFF2-40B4-BE49-F238E27FC236}">
                <a16:creationId xmlns:a16="http://schemas.microsoft.com/office/drawing/2014/main" id="{239A53F2-E05D-6FE2-F9AA-8916B278ACD9}"/>
              </a:ext>
            </a:extLst>
          </p:cNvPr>
          <p:cNvSpPr>
            <a:spLocks noGrp="1"/>
          </p:cNvSpPr>
          <p:nvPr>
            <p:ph type="sldNum" sz="quarter" idx="12"/>
          </p:nvPr>
        </p:nvSpPr>
        <p:spPr/>
        <p:txBody>
          <a:bodyPr/>
          <a:lstStyle/>
          <a:p>
            <a:fld id="{C76C38E6-43A8-4A9C-83E6-8C920C2C40FA}" type="slidenum">
              <a:rPr lang="en-GB" smtClean="0"/>
              <a:t>‹#›</a:t>
            </a:fld>
            <a:endParaRPr lang="en-GB"/>
          </a:p>
        </p:txBody>
      </p:sp>
    </p:spTree>
    <p:extLst>
      <p:ext uri="{BB962C8B-B14F-4D97-AF65-F5344CB8AC3E}">
        <p14:creationId xmlns:p14="http://schemas.microsoft.com/office/powerpoint/2010/main" val="9260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401DFC5-68FF-88A1-5685-798BA29D733B}"/>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8102E39A-D8F9-B6EB-2090-C8DD578527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a:extLst>
              <a:ext uri="{FF2B5EF4-FFF2-40B4-BE49-F238E27FC236}">
                <a16:creationId xmlns:a16="http://schemas.microsoft.com/office/drawing/2014/main" id="{680A853C-4459-FC20-D5F6-F82425AD9F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5030DDD9-3A7C-823E-7BF2-513E05B93522}"/>
              </a:ext>
            </a:extLst>
          </p:cNvPr>
          <p:cNvSpPr>
            <a:spLocks noGrp="1"/>
          </p:cNvSpPr>
          <p:nvPr>
            <p:ph type="dt" sz="half" idx="10"/>
          </p:nvPr>
        </p:nvSpPr>
        <p:spPr/>
        <p:txBody>
          <a:bodyPr/>
          <a:lstStyle/>
          <a:p>
            <a:fld id="{155C56A5-446F-41F4-8698-33205CF41043}" type="datetimeFigureOut">
              <a:rPr lang="en-GB" smtClean="0"/>
              <a:t>21/01/2026</a:t>
            </a:fld>
            <a:endParaRPr lang="en-GB"/>
          </a:p>
        </p:txBody>
      </p:sp>
      <p:sp>
        <p:nvSpPr>
          <p:cNvPr id="6" name="Symbol zastępczy stopki 5">
            <a:extLst>
              <a:ext uri="{FF2B5EF4-FFF2-40B4-BE49-F238E27FC236}">
                <a16:creationId xmlns:a16="http://schemas.microsoft.com/office/drawing/2014/main" id="{2599CA1D-A2B1-4751-E8DE-2F4DA838488F}"/>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35E63D08-2206-57BB-4593-34C93B892E14}"/>
              </a:ext>
            </a:extLst>
          </p:cNvPr>
          <p:cNvSpPr>
            <a:spLocks noGrp="1"/>
          </p:cNvSpPr>
          <p:nvPr>
            <p:ph type="sldNum" sz="quarter" idx="12"/>
          </p:nvPr>
        </p:nvSpPr>
        <p:spPr/>
        <p:txBody>
          <a:bodyPr/>
          <a:lstStyle/>
          <a:p>
            <a:fld id="{C76C38E6-43A8-4A9C-83E6-8C920C2C40FA}" type="slidenum">
              <a:rPr lang="en-GB" smtClean="0"/>
              <a:t>‹#›</a:t>
            </a:fld>
            <a:endParaRPr lang="en-GB"/>
          </a:p>
        </p:txBody>
      </p:sp>
    </p:spTree>
    <p:extLst>
      <p:ext uri="{BB962C8B-B14F-4D97-AF65-F5344CB8AC3E}">
        <p14:creationId xmlns:p14="http://schemas.microsoft.com/office/powerpoint/2010/main" val="292634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E1CE253-A6DC-62DB-6FF3-5965C710C942}"/>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obrazu 2">
            <a:extLst>
              <a:ext uri="{FF2B5EF4-FFF2-40B4-BE49-F238E27FC236}">
                <a16:creationId xmlns:a16="http://schemas.microsoft.com/office/drawing/2014/main" id="{8DC33965-718B-0E1B-5AF5-B237907676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a:extLst>
              <a:ext uri="{FF2B5EF4-FFF2-40B4-BE49-F238E27FC236}">
                <a16:creationId xmlns:a16="http://schemas.microsoft.com/office/drawing/2014/main" id="{7B9A7DF4-2372-3C23-957C-DFF7F54C9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042D8A55-06C2-0594-C5D9-5880EEA800B4}"/>
              </a:ext>
            </a:extLst>
          </p:cNvPr>
          <p:cNvSpPr>
            <a:spLocks noGrp="1"/>
          </p:cNvSpPr>
          <p:nvPr>
            <p:ph type="dt" sz="half" idx="10"/>
          </p:nvPr>
        </p:nvSpPr>
        <p:spPr/>
        <p:txBody>
          <a:bodyPr/>
          <a:lstStyle/>
          <a:p>
            <a:fld id="{155C56A5-446F-41F4-8698-33205CF41043}" type="datetimeFigureOut">
              <a:rPr lang="en-GB" smtClean="0"/>
              <a:t>21/01/2026</a:t>
            </a:fld>
            <a:endParaRPr lang="en-GB"/>
          </a:p>
        </p:txBody>
      </p:sp>
      <p:sp>
        <p:nvSpPr>
          <p:cNvPr id="6" name="Symbol zastępczy stopki 5">
            <a:extLst>
              <a:ext uri="{FF2B5EF4-FFF2-40B4-BE49-F238E27FC236}">
                <a16:creationId xmlns:a16="http://schemas.microsoft.com/office/drawing/2014/main" id="{DB0FF135-3B33-C942-7CBA-3BC9CCA27353}"/>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67BB3AAD-1E43-70C9-5A2F-D6C6F3382C21}"/>
              </a:ext>
            </a:extLst>
          </p:cNvPr>
          <p:cNvSpPr>
            <a:spLocks noGrp="1"/>
          </p:cNvSpPr>
          <p:nvPr>
            <p:ph type="sldNum" sz="quarter" idx="12"/>
          </p:nvPr>
        </p:nvSpPr>
        <p:spPr/>
        <p:txBody>
          <a:bodyPr/>
          <a:lstStyle/>
          <a:p>
            <a:fld id="{C76C38E6-43A8-4A9C-83E6-8C920C2C40FA}" type="slidenum">
              <a:rPr lang="en-GB" smtClean="0"/>
              <a:t>‹#›</a:t>
            </a:fld>
            <a:endParaRPr lang="en-GB"/>
          </a:p>
        </p:txBody>
      </p:sp>
    </p:spTree>
    <p:extLst>
      <p:ext uri="{BB962C8B-B14F-4D97-AF65-F5344CB8AC3E}">
        <p14:creationId xmlns:p14="http://schemas.microsoft.com/office/powerpoint/2010/main" val="3198655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63BEFE7-22C9-2BB3-A4EB-08DEE4D57FA4}"/>
              </a:ext>
            </a:extLst>
          </p:cNvPr>
          <p:cNvSpPr>
            <a:spLocks noGrp="1"/>
          </p:cNvSpPr>
          <p:nvPr>
            <p:ph type="title"/>
          </p:nvPr>
        </p:nvSpPr>
        <p:spPr/>
        <p:txBody>
          <a:bodyPr/>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78C10A78-AC28-74E9-49DD-7D4B069E294D}"/>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4C9404B8-B629-8700-D215-E2A016D3A5B0}"/>
              </a:ext>
            </a:extLst>
          </p:cNvPr>
          <p:cNvSpPr>
            <a:spLocks noGrp="1"/>
          </p:cNvSpPr>
          <p:nvPr>
            <p:ph type="dt" sz="half" idx="10"/>
          </p:nvPr>
        </p:nvSpPr>
        <p:spPr/>
        <p:txBody>
          <a:bodyPr/>
          <a:lstStyle/>
          <a:p>
            <a:fld id="{155C56A5-446F-41F4-8698-33205CF41043}" type="datetimeFigureOut">
              <a:rPr lang="en-GB" smtClean="0"/>
              <a:t>21/01/2026</a:t>
            </a:fld>
            <a:endParaRPr lang="en-GB"/>
          </a:p>
        </p:txBody>
      </p:sp>
      <p:sp>
        <p:nvSpPr>
          <p:cNvPr id="5" name="Symbol zastępczy stopki 4">
            <a:extLst>
              <a:ext uri="{FF2B5EF4-FFF2-40B4-BE49-F238E27FC236}">
                <a16:creationId xmlns:a16="http://schemas.microsoft.com/office/drawing/2014/main" id="{A72E4C82-E2FD-8491-799D-89412D6AC4FD}"/>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584755D1-DFD7-F362-9395-A69CF29AF38B}"/>
              </a:ext>
            </a:extLst>
          </p:cNvPr>
          <p:cNvSpPr>
            <a:spLocks noGrp="1"/>
          </p:cNvSpPr>
          <p:nvPr>
            <p:ph type="sldNum" sz="quarter" idx="12"/>
          </p:nvPr>
        </p:nvSpPr>
        <p:spPr/>
        <p:txBody>
          <a:bodyPr/>
          <a:lstStyle/>
          <a:p>
            <a:fld id="{C76C38E6-43A8-4A9C-83E6-8C920C2C40FA}" type="slidenum">
              <a:rPr lang="en-GB" smtClean="0"/>
              <a:t>‹#›</a:t>
            </a:fld>
            <a:endParaRPr lang="en-GB"/>
          </a:p>
        </p:txBody>
      </p:sp>
    </p:spTree>
    <p:extLst>
      <p:ext uri="{BB962C8B-B14F-4D97-AF65-F5344CB8AC3E}">
        <p14:creationId xmlns:p14="http://schemas.microsoft.com/office/powerpoint/2010/main" val="3493990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71C68741-F94F-510A-C899-41DFDC03A78F}"/>
              </a:ext>
            </a:extLst>
          </p:cNvPr>
          <p:cNvSpPr>
            <a:spLocks noGrp="1"/>
          </p:cNvSpPr>
          <p:nvPr>
            <p:ph type="title" orient="vert"/>
          </p:nvPr>
        </p:nvSpPr>
        <p:spPr>
          <a:xfrm>
            <a:off x="8724900" y="365125"/>
            <a:ext cx="2628900" cy="5811838"/>
          </a:xfrm>
        </p:spPr>
        <p:txBody>
          <a:bodyPr vert="eaVert"/>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ABC83BD3-E47C-6169-BDDF-D570F8E092F6}"/>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277D7843-B079-6904-4368-8B1259A1132A}"/>
              </a:ext>
            </a:extLst>
          </p:cNvPr>
          <p:cNvSpPr>
            <a:spLocks noGrp="1"/>
          </p:cNvSpPr>
          <p:nvPr>
            <p:ph type="dt" sz="half" idx="10"/>
          </p:nvPr>
        </p:nvSpPr>
        <p:spPr/>
        <p:txBody>
          <a:bodyPr/>
          <a:lstStyle/>
          <a:p>
            <a:fld id="{155C56A5-446F-41F4-8698-33205CF41043}" type="datetimeFigureOut">
              <a:rPr lang="en-GB" smtClean="0"/>
              <a:t>21/01/2026</a:t>
            </a:fld>
            <a:endParaRPr lang="en-GB"/>
          </a:p>
        </p:txBody>
      </p:sp>
      <p:sp>
        <p:nvSpPr>
          <p:cNvPr id="5" name="Symbol zastępczy stopki 4">
            <a:extLst>
              <a:ext uri="{FF2B5EF4-FFF2-40B4-BE49-F238E27FC236}">
                <a16:creationId xmlns:a16="http://schemas.microsoft.com/office/drawing/2014/main" id="{008E34DA-3C2F-9D4E-540A-5A841D37D881}"/>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A899EF9C-82CE-7ED0-16CD-7A8F98C0D65B}"/>
              </a:ext>
            </a:extLst>
          </p:cNvPr>
          <p:cNvSpPr>
            <a:spLocks noGrp="1"/>
          </p:cNvSpPr>
          <p:nvPr>
            <p:ph type="sldNum" sz="quarter" idx="12"/>
          </p:nvPr>
        </p:nvSpPr>
        <p:spPr/>
        <p:txBody>
          <a:bodyPr/>
          <a:lstStyle/>
          <a:p>
            <a:fld id="{C76C38E6-43A8-4A9C-83E6-8C920C2C40FA}" type="slidenum">
              <a:rPr lang="en-GB" smtClean="0"/>
              <a:t>‹#›</a:t>
            </a:fld>
            <a:endParaRPr lang="en-GB"/>
          </a:p>
        </p:txBody>
      </p:sp>
    </p:spTree>
    <p:extLst>
      <p:ext uri="{BB962C8B-B14F-4D97-AF65-F5344CB8AC3E}">
        <p14:creationId xmlns:p14="http://schemas.microsoft.com/office/powerpoint/2010/main" val="2800789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0466ABDA-A553-6846-4894-EDCAD54958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96E5E4EB-DDCF-D3B2-1174-86FAFD45E9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79CB5E99-6162-5723-A45C-8142C940A8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5C56A5-446F-41F4-8698-33205CF41043}" type="datetimeFigureOut">
              <a:rPr lang="en-GB" smtClean="0"/>
              <a:t>21/01/2026</a:t>
            </a:fld>
            <a:endParaRPr lang="en-GB"/>
          </a:p>
        </p:txBody>
      </p:sp>
      <p:sp>
        <p:nvSpPr>
          <p:cNvPr id="5" name="Symbol zastępczy stopki 4">
            <a:extLst>
              <a:ext uri="{FF2B5EF4-FFF2-40B4-BE49-F238E27FC236}">
                <a16:creationId xmlns:a16="http://schemas.microsoft.com/office/drawing/2014/main" id="{F529330A-A4D4-0C72-5AE1-B564E66637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ymbol zastępczy numeru slajdu 5">
            <a:extLst>
              <a:ext uri="{FF2B5EF4-FFF2-40B4-BE49-F238E27FC236}">
                <a16:creationId xmlns:a16="http://schemas.microsoft.com/office/drawing/2014/main" id="{E846331D-2B09-E4EE-CB0D-8893E19F81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6C38E6-43A8-4A9C-83E6-8C920C2C40FA}" type="slidenum">
              <a:rPr lang="en-GB" smtClean="0"/>
              <a:t>‹#›</a:t>
            </a:fld>
            <a:endParaRPr lang="en-GB"/>
          </a:p>
        </p:txBody>
      </p:sp>
    </p:spTree>
    <p:extLst>
      <p:ext uri="{BB962C8B-B14F-4D97-AF65-F5344CB8AC3E}">
        <p14:creationId xmlns:p14="http://schemas.microsoft.com/office/powerpoint/2010/main" val="3159927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hyperlink" Target="https://en.wikipedia.org/wiki/Root-mean-square_deviation" TargetMode="External"/><Relationship Id="rId4" Type="http://schemas.openxmlformats.org/officeDocument/2006/relationships/hyperlink" Target="https://en.wikipedia.org/wiki/Mean_squared_error"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research.fb.com/prophet-forecasting-at-scale/"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6A8057FE-19C3-56F0-0FFB-C8F6599B8CD5}"/>
              </a:ext>
            </a:extLst>
          </p:cNvPr>
          <p:cNvSpPr txBox="1"/>
          <p:nvPr/>
        </p:nvSpPr>
        <p:spPr>
          <a:xfrm>
            <a:off x="3657600" y="642796"/>
            <a:ext cx="5739897" cy="1569660"/>
          </a:xfrm>
          <a:prstGeom prst="rect">
            <a:avLst/>
          </a:prstGeom>
          <a:noFill/>
        </p:spPr>
        <p:txBody>
          <a:bodyPr wrap="square" rtlCol="0">
            <a:spAutoFit/>
          </a:bodyPr>
          <a:lstStyle/>
          <a:p>
            <a:r>
              <a:rPr lang="pl-PL" sz="3200">
                <a:solidFill>
                  <a:srgbClr val="C00000"/>
                </a:solidFill>
              </a:rPr>
              <a:t>Szeregi czasowe  - prognoza</a:t>
            </a:r>
          </a:p>
          <a:p>
            <a:endParaRPr lang="pl-PL" sz="3200"/>
          </a:p>
          <a:p>
            <a:r>
              <a:rPr lang="pl-PL" sz="3200">
                <a:solidFill>
                  <a:srgbClr val="FF0000"/>
                </a:solidFill>
              </a:rPr>
              <a:t>ZADANIE</a:t>
            </a:r>
            <a:endParaRPr lang="en-GB" sz="3200">
              <a:solidFill>
                <a:srgbClr val="FF0000"/>
              </a:solidFill>
            </a:endParaRPr>
          </a:p>
        </p:txBody>
      </p:sp>
      <p:sp>
        <p:nvSpPr>
          <p:cNvPr id="4" name="pole tekstowe 3">
            <a:extLst>
              <a:ext uri="{FF2B5EF4-FFF2-40B4-BE49-F238E27FC236}">
                <a16:creationId xmlns:a16="http://schemas.microsoft.com/office/drawing/2014/main" id="{C3EA5AC5-5A02-CE34-AC60-76A9CA6E1742}"/>
              </a:ext>
            </a:extLst>
          </p:cNvPr>
          <p:cNvSpPr txBox="1"/>
          <p:nvPr/>
        </p:nvSpPr>
        <p:spPr>
          <a:xfrm>
            <a:off x="2743200" y="2589291"/>
            <a:ext cx="8030424" cy="2308324"/>
          </a:xfrm>
          <a:prstGeom prst="rect">
            <a:avLst/>
          </a:prstGeom>
          <a:noFill/>
        </p:spPr>
        <p:txBody>
          <a:bodyPr wrap="square" rtlCol="0">
            <a:spAutoFit/>
          </a:bodyPr>
          <a:lstStyle/>
          <a:p>
            <a:pPr marL="285750" indent="-285750">
              <a:buFont typeface="Arial" panose="020B0604020202020204" pitchFamily="34" charset="0"/>
              <a:buChar char="•"/>
            </a:pPr>
            <a:r>
              <a:rPr lang="pl-PL"/>
              <a:t>Przepisać kod ze zrozumieniem,</a:t>
            </a:r>
          </a:p>
          <a:p>
            <a:pPr marL="285750" indent="-285750">
              <a:buFont typeface="Arial" panose="020B0604020202020204" pitchFamily="34" charset="0"/>
              <a:buChar char="•"/>
            </a:pPr>
            <a:endParaRPr lang="pl-PL"/>
          </a:p>
          <a:p>
            <a:pPr marL="285750" indent="-285750">
              <a:buFont typeface="Arial" panose="020B0604020202020204" pitchFamily="34" charset="0"/>
              <a:buChar char="•"/>
            </a:pPr>
            <a:r>
              <a:rPr lang="pl-PL"/>
              <a:t>Kolejne etapy analizy zaznaczyć </a:t>
            </a:r>
            <a:r>
              <a:rPr lang="pl-PL" err="1"/>
              <a:t>Markdown</a:t>
            </a:r>
            <a:r>
              <a:rPr lang="pl-PL"/>
              <a:t> (przede wszystkim opisy na brązowo!</a:t>
            </a:r>
          </a:p>
          <a:p>
            <a:pPr marL="285750" indent="-285750">
              <a:buFont typeface="Arial" panose="020B0604020202020204" pitchFamily="34" charset="0"/>
              <a:buChar char="•"/>
            </a:pPr>
            <a:endParaRPr lang="pl-PL"/>
          </a:p>
          <a:p>
            <a:pPr marL="285750" indent="-285750">
              <a:buFont typeface="Arial" panose="020B0604020202020204" pitchFamily="34" charset="0"/>
              <a:buChar char="•"/>
            </a:pPr>
            <a:r>
              <a:rPr lang="pl-PL"/>
              <a:t>Uzyskać wszystkie </a:t>
            </a:r>
            <a:r>
              <a:rPr lang="pl-PL" err="1"/>
              <a:t>outputs</a:t>
            </a:r>
            <a:r>
              <a:rPr lang="pl-PL"/>
              <a:t>, dopracować ewentualnie wizualizacje</a:t>
            </a:r>
          </a:p>
          <a:p>
            <a:pPr marL="285750" indent="-285750">
              <a:buFont typeface="Arial" panose="020B0604020202020204" pitchFamily="34" charset="0"/>
              <a:buChar char="•"/>
            </a:pPr>
            <a:endParaRPr lang="pl-PL"/>
          </a:p>
          <a:p>
            <a:pPr marL="285750" indent="-285750">
              <a:buFont typeface="Arial" panose="020B0604020202020204" pitchFamily="34" charset="0"/>
              <a:buChar char="•"/>
            </a:pPr>
            <a:r>
              <a:rPr lang="pl-PL"/>
              <a:t>Przesłać pracę do TEAMS</a:t>
            </a:r>
            <a:endParaRPr lang="en-GB"/>
          </a:p>
        </p:txBody>
      </p:sp>
    </p:spTree>
    <p:extLst>
      <p:ext uri="{BB962C8B-B14F-4D97-AF65-F5344CB8AC3E}">
        <p14:creationId xmlns:p14="http://schemas.microsoft.com/office/powerpoint/2010/main" val="2387457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DA9CB6A6-7E82-B1FB-A0A8-BB7A04E80E88}"/>
              </a:ext>
            </a:extLst>
          </p:cNvPr>
          <p:cNvPicPr>
            <a:picLocks noChangeAspect="1"/>
          </p:cNvPicPr>
          <p:nvPr/>
        </p:nvPicPr>
        <p:blipFill>
          <a:blip r:embed="rId2"/>
          <a:stretch>
            <a:fillRect/>
          </a:stretch>
        </p:blipFill>
        <p:spPr>
          <a:xfrm>
            <a:off x="3461991" y="603057"/>
            <a:ext cx="5229225" cy="3067050"/>
          </a:xfrm>
          <a:prstGeom prst="rect">
            <a:avLst/>
          </a:prstGeom>
        </p:spPr>
      </p:pic>
      <p:sp>
        <p:nvSpPr>
          <p:cNvPr id="4" name="pole tekstowe 3">
            <a:extLst>
              <a:ext uri="{FF2B5EF4-FFF2-40B4-BE49-F238E27FC236}">
                <a16:creationId xmlns:a16="http://schemas.microsoft.com/office/drawing/2014/main" id="{E54B4B05-F5EA-83B6-E091-0F3AC5F973C7}"/>
              </a:ext>
            </a:extLst>
          </p:cNvPr>
          <p:cNvSpPr txBox="1"/>
          <p:nvPr/>
        </p:nvSpPr>
        <p:spPr>
          <a:xfrm>
            <a:off x="3275215" y="282633"/>
            <a:ext cx="5602778" cy="369332"/>
          </a:xfrm>
          <a:prstGeom prst="rect">
            <a:avLst/>
          </a:prstGeom>
          <a:noFill/>
        </p:spPr>
        <p:txBody>
          <a:bodyPr wrap="square" rtlCol="0">
            <a:spAutoFit/>
          </a:bodyPr>
          <a:lstStyle/>
          <a:p>
            <a:r>
              <a:rPr lang="pl-PL"/>
              <a:t>Importujemy biblioteki </a:t>
            </a:r>
            <a:r>
              <a:rPr lang="pl-PL" err="1"/>
              <a:t>Pythona</a:t>
            </a:r>
            <a:r>
              <a:rPr lang="pl-PL"/>
              <a:t> i formatujemy wykresy </a:t>
            </a:r>
            <a:endParaRPr lang="en-GB"/>
          </a:p>
        </p:txBody>
      </p:sp>
      <p:sp>
        <p:nvSpPr>
          <p:cNvPr id="6" name="pole tekstowe 5">
            <a:extLst>
              <a:ext uri="{FF2B5EF4-FFF2-40B4-BE49-F238E27FC236}">
                <a16:creationId xmlns:a16="http://schemas.microsoft.com/office/drawing/2014/main" id="{C58CE0FF-43DD-F4E1-153F-02CD49754FCB}"/>
              </a:ext>
            </a:extLst>
          </p:cNvPr>
          <p:cNvSpPr txBox="1"/>
          <p:nvPr/>
        </p:nvSpPr>
        <p:spPr>
          <a:xfrm>
            <a:off x="2460568" y="4185149"/>
            <a:ext cx="7722523" cy="646331"/>
          </a:xfrm>
          <a:prstGeom prst="rect">
            <a:avLst/>
          </a:prstGeom>
          <a:noFill/>
        </p:spPr>
        <p:txBody>
          <a:bodyPr wrap="square">
            <a:spAutoFit/>
          </a:bodyPr>
          <a:lstStyle/>
          <a:p>
            <a:r>
              <a:rPr lang="pl-PL" b="0" i="0">
                <a:solidFill>
                  <a:srgbClr val="242424"/>
                </a:solidFill>
                <a:effectLst/>
                <a:latin typeface="source-serif-pro"/>
              </a:rPr>
              <a:t>Dane dotyczące sprzedaży w </a:t>
            </a:r>
            <a:r>
              <a:rPr lang="pl-PL" b="0" i="0" err="1">
                <a:solidFill>
                  <a:srgbClr val="242424"/>
                </a:solidFill>
                <a:effectLst/>
                <a:latin typeface="source-serif-pro"/>
              </a:rPr>
              <a:t>Superstore</a:t>
            </a:r>
            <a:r>
              <a:rPr lang="pl-PL" b="0" i="0">
                <a:solidFill>
                  <a:srgbClr val="242424"/>
                </a:solidFill>
                <a:effectLst/>
                <a:latin typeface="source-serif-pro"/>
              </a:rPr>
              <a:t> dzielą się na kilka kategorii. Zaczynamy od analizy szeregów czasowych i prognozowania sprzedaży mebli.</a:t>
            </a:r>
            <a:endParaRPr lang="en-GB"/>
          </a:p>
        </p:txBody>
      </p:sp>
      <p:pic>
        <p:nvPicPr>
          <p:cNvPr id="8" name="Obraz 7">
            <a:extLst>
              <a:ext uri="{FF2B5EF4-FFF2-40B4-BE49-F238E27FC236}">
                <a16:creationId xmlns:a16="http://schemas.microsoft.com/office/drawing/2014/main" id="{4BFE5A99-15BC-E41B-8948-1D8AC5E5B22F}"/>
              </a:ext>
            </a:extLst>
          </p:cNvPr>
          <p:cNvPicPr>
            <a:picLocks noChangeAspect="1"/>
          </p:cNvPicPr>
          <p:nvPr/>
        </p:nvPicPr>
        <p:blipFill>
          <a:blip r:embed="rId3"/>
          <a:stretch>
            <a:fillRect/>
          </a:stretch>
        </p:blipFill>
        <p:spPr>
          <a:xfrm>
            <a:off x="3275215" y="5367770"/>
            <a:ext cx="5229225" cy="733425"/>
          </a:xfrm>
          <a:prstGeom prst="rect">
            <a:avLst/>
          </a:prstGeom>
        </p:spPr>
      </p:pic>
      <p:cxnSp>
        <p:nvCxnSpPr>
          <p:cNvPr id="10" name="Łącznik prosty ze strzałką 9">
            <a:extLst>
              <a:ext uri="{FF2B5EF4-FFF2-40B4-BE49-F238E27FC236}">
                <a16:creationId xmlns:a16="http://schemas.microsoft.com/office/drawing/2014/main" id="{9870ED17-2C4D-6901-3DAA-90B14FE6306B}"/>
              </a:ext>
            </a:extLst>
          </p:cNvPr>
          <p:cNvCxnSpPr>
            <a:cxnSpLocks/>
          </p:cNvCxnSpPr>
          <p:nvPr/>
        </p:nvCxnSpPr>
        <p:spPr>
          <a:xfrm flipH="1">
            <a:off x="6550429" y="5477811"/>
            <a:ext cx="3424843" cy="1108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pole tekstowe 10">
            <a:extLst>
              <a:ext uri="{FF2B5EF4-FFF2-40B4-BE49-F238E27FC236}">
                <a16:creationId xmlns:a16="http://schemas.microsoft.com/office/drawing/2014/main" id="{AAD17403-7AA5-BF57-78EA-CB681AD29D61}"/>
              </a:ext>
            </a:extLst>
          </p:cNvPr>
          <p:cNvSpPr txBox="1"/>
          <p:nvPr/>
        </p:nvSpPr>
        <p:spPr>
          <a:xfrm>
            <a:off x="9842269" y="5403977"/>
            <a:ext cx="1995054" cy="646331"/>
          </a:xfrm>
          <a:prstGeom prst="rect">
            <a:avLst/>
          </a:prstGeom>
          <a:noFill/>
        </p:spPr>
        <p:txBody>
          <a:bodyPr wrap="square" rtlCol="0">
            <a:spAutoFit/>
          </a:bodyPr>
          <a:lstStyle/>
          <a:p>
            <a:r>
              <a:rPr lang="pl-PL"/>
              <a:t>Plik w folderze</a:t>
            </a:r>
          </a:p>
          <a:p>
            <a:r>
              <a:rPr lang="pl-PL" b="1"/>
              <a:t>w .xls</a:t>
            </a:r>
            <a:endParaRPr lang="en-GB" b="1"/>
          </a:p>
        </p:txBody>
      </p:sp>
    </p:spTree>
    <p:extLst>
      <p:ext uri="{BB962C8B-B14F-4D97-AF65-F5344CB8AC3E}">
        <p14:creationId xmlns:p14="http://schemas.microsoft.com/office/powerpoint/2010/main" val="4272212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ole tekstowe 12">
            <a:extLst>
              <a:ext uri="{FF2B5EF4-FFF2-40B4-BE49-F238E27FC236}">
                <a16:creationId xmlns:a16="http://schemas.microsoft.com/office/drawing/2014/main" id="{1CA924E1-8D7B-B79E-AF85-615B850D72B7}"/>
              </a:ext>
            </a:extLst>
          </p:cNvPr>
          <p:cNvSpPr txBox="1"/>
          <p:nvPr/>
        </p:nvSpPr>
        <p:spPr>
          <a:xfrm>
            <a:off x="2560841" y="475611"/>
            <a:ext cx="7480933" cy="369332"/>
          </a:xfrm>
          <a:prstGeom prst="rect">
            <a:avLst/>
          </a:prstGeom>
          <a:noFill/>
        </p:spPr>
        <p:txBody>
          <a:bodyPr wrap="square">
            <a:spAutoFit/>
          </a:bodyPr>
          <a:lstStyle/>
          <a:p>
            <a:r>
              <a:rPr lang="pl-PL" b="0" i="0">
                <a:solidFill>
                  <a:srgbClr val="242424"/>
                </a:solidFill>
                <a:effectLst/>
                <a:latin typeface="source-serif-pro"/>
              </a:rPr>
              <a:t>Dysponujemy dobrymi danymi dotyczącymi sprzedaży mebli za ostatnie 4 lata.</a:t>
            </a:r>
            <a:endParaRPr lang="en-GB"/>
          </a:p>
        </p:txBody>
      </p:sp>
      <p:pic>
        <p:nvPicPr>
          <p:cNvPr id="3" name="Obraz 2">
            <a:extLst>
              <a:ext uri="{FF2B5EF4-FFF2-40B4-BE49-F238E27FC236}">
                <a16:creationId xmlns:a16="http://schemas.microsoft.com/office/drawing/2014/main" id="{E1387F18-71D6-5E97-2205-45111CB5103D}"/>
              </a:ext>
            </a:extLst>
          </p:cNvPr>
          <p:cNvPicPr>
            <a:picLocks noChangeAspect="1"/>
          </p:cNvPicPr>
          <p:nvPr/>
        </p:nvPicPr>
        <p:blipFill>
          <a:blip r:embed="rId2"/>
          <a:stretch>
            <a:fillRect/>
          </a:stretch>
        </p:blipFill>
        <p:spPr>
          <a:xfrm>
            <a:off x="3355484" y="844943"/>
            <a:ext cx="5248275" cy="2009775"/>
          </a:xfrm>
          <a:prstGeom prst="rect">
            <a:avLst/>
          </a:prstGeom>
        </p:spPr>
      </p:pic>
      <p:sp>
        <p:nvSpPr>
          <p:cNvPr id="5" name="pole tekstowe 4">
            <a:extLst>
              <a:ext uri="{FF2B5EF4-FFF2-40B4-BE49-F238E27FC236}">
                <a16:creationId xmlns:a16="http://schemas.microsoft.com/office/drawing/2014/main" id="{3E9CF9F6-FDEA-DFBC-8906-156A23285707}"/>
              </a:ext>
            </a:extLst>
          </p:cNvPr>
          <p:cNvSpPr txBox="1"/>
          <p:nvPr/>
        </p:nvSpPr>
        <p:spPr>
          <a:xfrm>
            <a:off x="2281843" y="3212862"/>
            <a:ext cx="8424949" cy="986809"/>
          </a:xfrm>
          <a:prstGeom prst="rect">
            <a:avLst/>
          </a:prstGeom>
          <a:noFill/>
        </p:spPr>
        <p:txBody>
          <a:bodyPr wrap="square">
            <a:spAutoFit/>
          </a:bodyPr>
          <a:lstStyle/>
          <a:p>
            <a:pPr algn="l">
              <a:lnSpc>
                <a:spcPts val="2250"/>
              </a:lnSpc>
            </a:pPr>
            <a:r>
              <a:rPr lang="pl-PL" b="1" i="0">
                <a:solidFill>
                  <a:srgbClr val="C00000"/>
                </a:solidFill>
                <a:effectLst/>
                <a:latin typeface="sohne"/>
              </a:rPr>
              <a:t>Wstępne przetwarzanie danych</a:t>
            </a:r>
          </a:p>
          <a:p>
            <a:pPr algn="l">
              <a:lnSpc>
                <a:spcPts val="2400"/>
              </a:lnSpc>
            </a:pPr>
            <a:r>
              <a:rPr lang="pl-PL" b="0" i="0">
                <a:solidFill>
                  <a:srgbClr val="242424"/>
                </a:solidFill>
                <a:effectLst/>
                <a:latin typeface="source-serif-pro"/>
              </a:rPr>
              <a:t>Ten krok obejmuje usuwanie niepotrzebnych kolumn, sprawdzanie brakujących wartości, agregowanie sprzedaży według daty itd.</a:t>
            </a:r>
          </a:p>
        </p:txBody>
      </p:sp>
      <p:pic>
        <p:nvPicPr>
          <p:cNvPr id="10" name="Obraz 9">
            <a:extLst>
              <a:ext uri="{FF2B5EF4-FFF2-40B4-BE49-F238E27FC236}">
                <a16:creationId xmlns:a16="http://schemas.microsoft.com/office/drawing/2014/main" id="{A1AC0B91-D5BD-E4FA-3154-21BD95761DBE}"/>
              </a:ext>
            </a:extLst>
          </p:cNvPr>
          <p:cNvPicPr>
            <a:picLocks noChangeAspect="1"/>
          </p:cNvPicPr>
          <p:nvPr/>
        </p:nvPicPr>
        <p:blipFill>
          <a:blip r:embed="rId3"/>
          <a:stretch>
            <a:fillRect/>
          </a:stretch>
        </p:blipFill>
        <p:spPr>
          <a:xfrm>
            <a:off x="311889" y="4102359"/>
            <a:ext cx="11568222" cy="1266837"/>
          </a:xfrm>
          <a:prstGeom prst="rect">
            <a:avLst/>
          </a:prstGeom>
        </p:spPr>
      </p:pic>
      <p:pic>
        <p:nvPicPr>
          <p:cNvPr id="12" name="Obraz 11">
            <a:extLst>
              <a:ext uri="{FF2B5EF4-FFF2-40B4-BE49-F238E27FC236}">
                <a16:creationId xmlns:a16="http://schemas.microsoft.com/office/drawing/2014/main" id="{D0682B0B-395D-5B9E-363E-57BD9A33D896}"/>
              </a:ext>
            </a:extLst>
          </p:cNvPr>
          <p:cNvPicPr>
            <a:picLocks noChangeAspect="1"/>
          </p:cNvPicPr>
          <p:nvPr/>
        </p:nvPicPr>
        <p:blipFill>
          <a:blip r:embed="rId4"/>
          <a:stretch>
            <a:fillRect/>
          </a:stretch>
        </p:blipFill>
        <p:spPr>
          <a:xfrm>
            <a:off x="311889" y="5369196"/>
            <a:ext cx="5450669" cy="831458"/>
          </a:xfrm>
          <a:prstGeom prst="rect">
            <a:avLst/>
          </a:prstGeom>
        </p:spPr>
      </p:pic>
      <p:sp>
        <p:nvSpPr>
          <p:cNvPr id="2" name="Prostokąt 1">
            <a:extLst>
              <a:ext uri="{FF2B5EF4-FFF2-40B4-BE49-F238E27FC236}">
                <a16:creationId xmlns:a16="http://schemas.microsoft.com/office/drawing/2014/main" id="{E00FE94C-D885-A8AC-C638-F989763F395F}"/>
              </a:ext>
            </a:extLst>
          </p:cNvPr>
          <p:cNvSpPr/>
          <p:nvPr/>
        </p:nvSpPr>
        <p:spPr>
          <a:xfrm>
            <a:off x="0" y="4715909"/>
            <a:ext cx="398352" cy="1826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Prostokąt 3">
            <a:extLst>
              <a:ext uri="{FF2B5EF4-FFF2-40B4-BE49-F238E27FC236}">
                <a16:creationId xmlns:a16="http://schemas.microsoft.com/office/drawing/2014/main" id="{66AD350F-DAFB-5007-5AF5-AF53CF50401C}"/>
              </a:ext>
            </a:extLst>
          </p:cNvPr>
          <p:cNvSpPr/>
          <p:nvPr/>
        </p:nvSpPr>
        <p:spPr>
          <a:xfrm>
            <a:off x="11697874" y="4670340"/>
            <a:ext cx="494126" cy="2281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2828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F47F0AEF-3068-EE6A-754D-75C78BF7D44D}"/>
              </a:ext>
            </a:extLst>
          </p:cNvPr>
          <p:cNvPicPr>
            <a:picLocks noChangeAspect="1"/>
          </p:cNvPicPr>
          <p:nvPr/>
        </p:nvPicPr>
        <p:blipFill>
          <a:blip r:embed="rId2"/>
          <a:stretch>
            <a:fillRect/>
          </a:stretch>
        </p:blipFill>
        <p:spPr>
          <a:xfrm>
            <a:off x="2016096" y="408709"/>
            <a:ext cx="7540368" cy="1320338"/>
          </a:xfrm>
          <a:prstGeom prst="rect">
            <a:avLst/>
          </a:prstGeom>
        </p:spPr>
      </p:pic>
      <p:sp>
        <p:nvSpPr>
          <p:cNvPr id="5" name="pole tekstowe 4">
            <a:extLst>
              <a:ext uri="{FF2B5EF4-FFF2-40B4-BE49-F238E27FC236}">
                <a16:creationId xmlns:a16="http://schemas.microsoft.com/office/drawing/2014/main" id="{F62BB9B5-BC96-F609-1B62-2E3CFB7EF0A5}"/>
              </a:ext>
            </a:extLst>
          </p:cNvPr>
          <p:cNvSpPr txBox="1"/>
          <p:nvPr/>
        </p:nvSpPr>
        <p:spPr>
          <a:xfrm>
            <a:off x="1967905" y="2252977"/>
            <a:ext cx="6093228" cy="374461"/>
          </a:xfrm>
          <a:prstGeom prst="rect">
            <a:avLst/>
          </a:prstGeom>
          <a:noFill/>
        </p:spPr>
        <p:txBody>
          <a:bodyPr wrap="square">
            <a:spAutoFit/>
          </a:bodyPr>
          <a:lstStyle/>
          <a:p>
            <a:pPr algn="l">
              <a:lnSpc>
                <a:spcPts val="2250"/>
              </a:lnSpc>
            </a:pPr>
            <a:r>
              <a:rPr lang="pl-PL" b="1" i="0">
                <a:solidFill>
                  <a:srgbClr val="C00000"/>
                </a:solidFill>
                <a:effectLst/>
                <a:latin typeface="sohne"/>
              </a:rPr>
              <a:t>Indeksowanie z danymi szeregów czasowych</a:t>
            </a:r>
          </a:p>
        </p:txBody>
      </p:sp>
      <p:pic>
        <p:nvPicPr>
          <p:cNvPr id="7" name="Obraz 6">
            <a:extLst>
              <a:ext uri="{FF2B5EF4-FFF2-40B4-BE49-F238E27FC236}">
                <a16:creationId xmlns:a16="http://schemas.microsoft.com/office/drawing/2014/main" id="{277EC556-8CB2-4E74-84E1-DF37411B9524}"/>
              </a:ext>
            </a:extLst>
          </p:cNvPr>
          <p:cNvPicPr>
            <a:picLocks noChangeAspect="1"/>
          </p:cNvPicPr>
          <p:nvPr/>
        </p:nvPicPr>
        <p:blipFill>
          <a:blip r:embed="rId3"/>
          <a:stretch>
            <a:fillRect/>
          </a:stretch>
        </p:blipFill>
        <p:spPr>
          <a:xfrm>
            <a:off x="1780655" y="2922962"/>
            <a:ext cx="6280478" cy="668136"/>
          </a:xfrm>
          <a:prstGeom prst="rect">
            <a:avLst/>
          </a:prstGeom>
        </p:spPr>
      </p:pic>
      <p:sp>
        <p:nvSpPr>
          <p:cNvPr id="9" name="pole tekstowe 8">
            <a:extLst>
              <a:ext uri="{FF2B5EF4-FFF2-40B4-BE49-F238E27FC236}">
                <a16:creationId xmlns:a16="http://schemas.microsoft.com/office/drawing/2014/main" id="{0F75D612-3222-0BA2-5843-34D6268E89E7}"/>
              </a:ext>
            </a:extLst>
          </p:cNvPr>
          <p:cNvSpPr txBox="1"/>
          <p:nvPr/>
        </p:nvSpPr>
        <p:spPr>
          <a:xfrm>
            <a:off x="962700" y="3861683"/>
            <a:ext cx="9647160" cy="923330"/>
          </a:xfrm>
          <a:prstGeom prst="rect">
            <a:avLst/>
          </a:prstGeom>
          <a:noFill/>
        </p:spPr>
        <p:txBody>
          <a:bodyPr wrap="square">
            <a:spAutoFit/>
          </a:bodyPr>
          <a:lstStyle/>
          <a:p>
            <a:r>
              <a:rPr lang="pl-PL" b="0" i="0">
                <a:solidFill>
                  <a:srgbClr val="242424"/>
                </a:solidFill>
                <a:effectLst/>
                <a:latin typeface="source-serif-pro"/>
              </a:rPr>
              <a:t>Nasze obecne dane typu </a:t>
            </a:r>
            <a:r>
              <a:rPr lang="pl-PL" b="0" i="0" err="1">
                <a:solidFill>
                  <a:srgbClr val="242424"/>
                </a:solidFill>
                <a:effectLst/>
                <a:latin typeface="source-serif-pro"/>
              </a:rPr>
              <a:t>datetime</a:t>
            </a:r>
            <a:r>
              <a:rPr lang="pl-PL" b="0" i="0">
                <a:solidFill>
                  <a:srgbClr val="242424"/>
                </a:solidFill>
                <a:effectLst/>
                <a:latin typeface="source-serif-pro"/>
              </a:rPr>
              <a:t> mogą być trudne w użyciu, dlatego zamiast nich użyjemy średniej dziennej wartości sprzedaży w danym miesiącu, a jako znacznik czasu będziemy używać początku każdego miesiąca.</a:t>
            </a:r>
            <a:endParaRPr lang="en-GB"/>
          </a:p>
        </p:txBody>
      </p:sp>
      <p:pic>
        <p:nvPicPr>
          <p:cNvPr id="11" name="Obraz 10">
            <a:extLst>
              <a:ext uri="{FF2B5EF4-FFF2-40B4-BE49-F238E27FC236}">
                <a16:creationId xmlns:a16="http://schemas.microsoft.com/office/drawing/2014/main" id="{24834327-536B-A508-2062-CD19E19DCAA8}"/>
              </a:ext>
            </a:extLst>
          </p:cNvPr>
          <p:cNvPicPr>
            <a:picLocks noChangeAspect="1"/>
          </p:cNvPicPr>
          <p:nvPr/>
        </p:nvPicPr>
        <p:blipFill>
          <a:blip r:embed="rId4"/>
          <a:stretch>
            <a:fillRect/>
          </a:stretch>
        </p:blipFill>
        <p:spPr>
          <a:xfrm>
            <a:off x="1093297" y="4892461"/>
            <a:ext cx="4286250" cy="1704975"/>
          </a:xfrm>
          <a:prstGeom prst="rect">
            <a:avLst/>
          </a:prstGeom>
        </p:spPr>
      </p:pic>
    </p:spTree>
    <p:extLst>
      <p:ext uri="{BB962C8B-B14F-4D97-AF65-F5344CB8AC3E}">
        <p14:creationId xmlns:p14="http://schemas.microsoft.com/office/powerpoint/2010/main" val="1568191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E9DDA162-F597-DB8F-4D09-B66405BFF5B8}"/>
              </a:ext>
            </a:extLst>
          </p:cNvPr>
          <p:cNvSpPr txBox="1"/>
          <p:nvPr/>
        </p:nvSpPr>
        <p:spPr>
          <a:xfrm>
            <a:off x="2614353" y="469475"/>
            <a:ext cx="6093228" cy="374461"/>
          </a:xfrm>
          <a:prstGeom prst="rect">
            <a:avLst/>
          </a:prstGeom>
          <a:noFill/>
        </p:spPr>
        <p:txBody>
          <a:bodyPr wrap="square">
            <a:spAutoFit/>
          </a:bodyPr>
          <a:lstStyle/>
          <a:p>
            <a:pPr algn="l">
              <a:lnSpc>
                <a:spcPts val="2250"/>
              </a:lnSpc>
            </a:pPr>
            <a:r>
              <a:rPr lang="pl-PL" b="1" i="0">
                <a:solidFill>
                  <a:srgbClr val="C00000"/>
                </a:solidFill>
                <a:effectLst/>
                <a:latin typeface="sohne"/>
              </a:rPr>
              <a:t>Wizualizacja danych szeregów czasowych sprzedaży mebli</a:t>
            </a:r>
          </a:p>
        </p:txBody>
      </p:sp>
      <p:pic>
        <p:nvPicPr>
          <p:cNvPr id="5" name="Obraz 4">
            <a:extLst>
              <a:ext uri="{FF2B5EF4-FFF2-40B4-BE49-F238E27FC236}">
                <a16:creationId xmlns:a16="http://schemas.microsoft.com/office/drawing/2014/main" id="{1720B50B-9A51-AB71-EE0E-F5D4DC2F8905}"/>
              </a:ext>
            </a:extLst>
          </p:cNvPr>
          <p:cNvPicPr>
            <a:picLocks noChangeAspect="1"/>
          </p:cNvPicPr>
          <p:nvPr/>
        </p:nvPicPr>
        <p:blipFill>
          <a:blip r:embed="rId2"/>
          <a:stretch>
            <a:fillRect/>
          </a:stretch>
        </p:blipFill>
        <p:spPr>
          <a:xfrm>
            <a:off x="2087794" y="1062557"/>
            <a:ext cx="2962275" cy="676275"/>
          </a:xfrm>
          <a:prstGeom prst="rect">
            <a:avLst/>
          </a:prstGeom>
        </p:spPr>
      </p:pic>
      <p:sp>
        <p:nvSpPr>
          <p:cNvPr id="7" name="pole tekstowe 6">
            <a:extLst>
              <a:ext uri="{FF2B5EF4-FFF2-40B4-BE49-F238E27FC236}">
                <a16:creationId xmlns:a16="http://schemas.microsoft.com/office/drawing/2014/main" id="{C56A8D2A-885E-309E-C53F-EBBE80ADA392}"/>
              </a:ext>
            </a:extLst>
          </p:cNvPr>
          <p:cNvSpPr txBox="1"/>
          <p:nvPr/>
        </p:nvSpPr>
        <p:spPr>
          <a:xfrm>
            <a:off x="1629294" y="2010010"/>
            <a:ext cx="9825643" cy="1922962"/>
          </a:xfrm>
          <a:prstGeom prst="rect">
            <a:avLst/>
          </a:prstGeom>
          <a:noFill/>
        </p:spPr>
        <p:txBody>
          <a:bodyPr wrap="square">
            <a:spAutoFit/>
          </a:bodyPr>
          <a:lstStyle/>
          <a:p>
            <a:pPr algn="l">
              <a:lnSpc>
                <a:spcPts val="2400"/>
              </a:lnSpc>
            </a:pPr>
            <a:r>
              <a:rPr lang="pl-PL" b="0" i="0">
                <a:solidFill>
                  <a:srgbClr val="242424"/>
                </a:solidFill>
                <a:effectLst/>
                <a:latin typeface="source-serif-pro"/>
              </a:rPr>
              <a:t>Niektóre rozpoznawalne wzorce pojawiają się, gdy nanosimy dane. Szereg czasowy ma wzorzec sezonowości, taki jak sprzedaż jest zawsze niska na początku roku i wysoka pod koniec roku. W ciągu każdego roku zawsze występuje trend wzrostowy z kilkoma niskimi miesiącami w połowie roku.</a:t>
            </a:r>
          </a:p>
          <a:p>
            <a:pPr algn="l">
              <a:lnSpc>
                <a:spcPts val="2400"/>
              </a:lnSpc>
            </a:pPr>
            <a:endParaRPr lang="pl-PL" b="0" i="0">
              <a:solidFill>
                <a:srgbClr val="242424"/>
              </a:solidFill>
              <a:effectLst/>
              <a:latin typeface="source-serif-pro"/>
            </a:endParaRPr>
          </a:p>
          <a:p>
            <a:pPr algn="l">
              <a:lnSpc>
                <a:spcPts val="2400"/>
              </a:lnSpc>
            </a:pPr>
            <a:r>
              <a:rPr lang="pl-PL" b="0" i="0">
                <a:solidFill>
                  <a:srgbClr val="242424"/>
                </a:solidFill>
                <a:effectLst/>
                <a:latin typeface="source-serif-pro"/>
              </a:rPr>
              <a:t>Możemy również wizualizować nasze dane, stosując metodę zwaną dekompozycją szeregów czasowych, która umożliwia rozłożenie szeregów czasowych na trzy odrębne składniki: </a:t>
            </a:r>
            <a:r>
              <a:rPr lang="pl-PL" b="1" i="0">
                <a:solidFill>
                  <a:srgbClr val="242424"/>
                </a:solidFill>
                <a:effectLst/>
                <a:latin typeface="source-serif-pro"/>
              </a:rPr>
              <a:t>trend, sezonowość i szum</a:t>
            </a:r>
            <a:r>
              <a:rPr lang="pl-PL" b="0" i="0">
                <a:solidFill>
                  <a:srgbClr val="242424"/>
                </a:solidFill>
                <a:effectLst/>
                <a:latin typeface="source-serif-pro"/>
              </a:rPr>
              <a:t>.</a:t>
            </a:r>
          </a:p>
        </p:txBody>
      </p:sp>
      <p:pic>
        <p:nvPicPr>
          <p:cNvPr id="9" name="Obraz 8">
            <a:extLst>
              <a:ext uri="{FF2B5EF4-FFF2-40B4-BE49-F238E27FC236}">
                <a16:creationId xmlns:a16="http://schemas.microsoft.com/office/drawing/2014/main" id="{10A86127-2D20-1029-4F50-560703042DAE}"/>
              </a:ext>
            </a:extLst>
          </p:cNvPr>
          <p:cNvPicPr>
            <a:picLocks noChangeAspect="1"/>
          </p:cNvPicPr>
          <p:nvPr/>
        </p:nvPicPr>
        <p:blipFill>
          <a:blip r:embed="rId3"/>
          <a:stretch>
            <a:fillRect/>
          </a:stretch>
        </p:blipFill>
        <p:spPr>
          <a:xfrm>
            <a:off x="1641850" y="4204150"/>
            <a:ext cx="5953125" cy="1333500"/>
          </a:xfrm>
          <a:prstGeom prst="rect">
            <a:avLst/>
          </a:prstGeom>
        </p:spPr>
      </p:pic>
    </p:spTree>
    <p:extLst>
      <p:ext uri="{BB962C8B-B14F-4D97-AF65-F5344CB8AC3E}">
        <p14:creationId xmlns:p14="http://schemas.microsoft.com/office/powerpoint/2010/main" val="1014975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A4EE9711-7BB2-4D47-4D1B-6FF1F658B619}"/>
              </a:ext>
            </a:extLst>
          </p:cNvPr>
          <p:cNvSpPr txBox="1"/>
          <p:nvPr/>
        </p:nvSpPr>
        <p:spPr>
          <a:xfrm>
            <a:off x="2061556" y="178692"/>
            <a:ext cx="8794866" cy="2031325"/>
          </a:xfrm>
          <a:prstGeom prst="rect">
            <a:avLst/>
          </a:prstGeom>
          <a:noFill/>
        </p:spPr>
        <p:txBody>
          <a:bodyPr wrap="square">
            <a:spAutoFit/>
          </a:bodyPr>
          <a:lstStyle/>
          <a:p>
            <a:r>
              <a:rPr lang="pl-PL" b="1">
                <a:solidFill>
                  <a:srgbClr val="C00000"/>
                </a:solidFill>
              </a:rPr>
              <a:t>Prognozowanie szeregów czasowych z wykorzystaniem ARIMA</a:t>
            </a:r>
          </a:p>
          <a:p>
            <a:endParaRPr lang="pl-PL" b="1">
              <a:solidFill>
                <a:srgbClr val="C00000"/>
              </a:solidFill>
            </a:endParaRPr>
          </a:p>
          <a:p>
            <a:r>
              <a:rPr lang="pl-PL"/>
              <a:t>Zastosujemy jedną z najpopularniejszych metod prognozowania szeregów czasowych, znaną jako </a:t>
            </a:r>
            <a:r>
              <a:rPr lang="pl-PL" b="1"/>
              <a:t>ARIMA</a:t>
            </a:r>
            <a:r>
              <a:rPr lang="pl-PL"/>
              <a:t>, co oznacza autoregresyjną zintegrowaną średnią kroczącą.</a:t>
            </a:r>
          </a:p>
          <a:p>
            <a:endParaRPr lang="pl-PL"/>
          </a:p>
          <a:p>
            <a:r>
              <a:rPr lang="pl-PL"/>
              <a:t>Modele ARIMA są oznaczane notacją ARIMA(p, d, q). Te trzy parametry uwzględniają </a:t>
            </a:r>
            <a:r>
              <a:rPr lang="pl-PL" b="1"/>
              <a:t>sezonowość, trend i szum w danych</a:t>
            </a:r>
            <a:r>
              <a:rPr lang="pl-PL"/>
              <a:t>:</a:t>
            </a:r>
            <a:endParaRPr lang="en-GB"/>
          </a:p>
        </p:txBody>
      </p:sp>
      <p:pic>
        <p:nvPicPr>
          <p:cNvPr id="6" name="Obraz 5">
            <a:extLst>
              <a:ext uri="{FF2B5EF4-FFF2-40B4-BE49-F238E27FC236}">
                <a16:creationId xmlns:a16="http://schemas.microsoft.com/office/drawing/2014/main" id="{B1353402-BA4C-5BC8-5CE2-4621806B386E}"/>
              </a:ext>
            </a:extLst>
          </p:cNvPr>
          <p:cNvPicPr>
            <a:picLocks noChangeAspect="1"/>
          </p:cNvPicPr>
          <p:nvPr/>
        </p:nvPicPr>
        <p:blipFill>
          <a:blip r:embed="rId2"/>
          <a:stretch>
            <a:fillRect/>
          </a:stretch>
        </p:blipFill>
        <p:spPr>
          <a:xfrm>
            <a:off x="1832610" y="2428875"/>
            <a:ext cx="7429500" cy="2000250"/>
          </a:xfrm>
          <a:prstGeom prst="rect">
            <a:avLst/>
          </a:prstGeom>
        </p:spPr>
      </p:pic>
      <p:sp>
        <p:nvSpPr>
          <p:cNvPr id="8" name="pole tekstowe 7">
            <a:extLst>
              <a:ext uri="{FF2B5EF4-FFF2-40B4-BE49-F238E27FC236}">
                <a16:creationId xmlns:a16="http://schemas.microsoft.com/office/drawing/2014/main" id="{0D75B9E2-46DC-00C3-B112-907BBD450F66}"/>
              </a:ext>
            </a:extLst>
          </p:cNvPr>
          <p:cNvSpPr txBox="1"/>
          <p:nvPr/>
        </p:nvSpPr>
        <p:spPr>
          <a:xfrm>
            <a:off x="1758661" y="5080245"/>
            <a:ext cx="8674677" cy="923330"/>
          </a:xfrm>
          <a:prstGeom prst="rect">
            <a:avLst/>
          </a:prstGeom>
          <a:noFill/>
        </p:spPr>
        <p:txBody>
          <a:bodyPr wrap="square">
            <a:spAutoFit/>
          </a:bodyPr>
          <a:lstStyle/>
          <a:p>
            <a:r>
              <a:rPr lang="pl-PL" b="0" i="0">
                <a:solidFill>
                  <a:srgbClr val="242424"/>
                </a:solidFill>
                <a:effectLst/>
                <a:latin typeface="source-serif-pro"/>
              </a:rPr>
              <a:t>Ten krok to Wybór parametrów dla modelu ARIMA Time Series sprzedaży naszych mebli. Naszym celem jest tutaj użycie „wyszukiwania siatki”, aby znaleźć optymalny zestaw parametrów, który zapewni najlepszą wydajność dla naszego modelu.</a:t>
            </a:r>
            <a:endParaRPr lang="en-GB"/>
          </a:p>
        </p:txBody>
      </p:sp>
    </p:spTree>
    <p:extLst>
      <p:ext uri="{BB962C8B-B14F-4D97-AF65-F5344CB8AC3E}">
        <p14:creationId xmlns:p14="http://schemas.microsoft.com/office/powerpoint/2010/main" val="1337467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ole tekstowe 5">
            <a:extLst>
              <a:ext uri="{FF2B5EF4-FFF2-40B4-BE49-F238E27FC236}">
                <a16:creationId xmlns:a16="http://schemas.microsoft.com/office/drawing/2014/main" id="{8220B28F-EA30-E22B-F833-04222B986290}"/>
              </a:ext>
            </a:extLst>
          </p:cNvPr>
          <p:cNvSpPr txBox="1"/>
          <p:nvPr/>
        </p:nvSpPr>
        <p:spPr>
          <a:xfrm>
            <a:off x="1832955" y="3857105"/>
            <a:ext cx="8277590" cy="646331"/>
          </a:xfrm>
          <a:prstGeom prst="rect">
            <a:avLst/>
          </a:prstGeom>
          <a:noFill/>
        </p:spPr>
        <p:txBody>
          <a:bodyPr wrap="square">
            <a:spAutoFit/>
          </a:bodyPr>
          <a:lstStyle/>
          <a:p>
            <a:r>
              <a:rPr lang="pl-PL"/>
              <a:t>Powyższe dane wyjściowe sugerują, że SARIMAX(1, 1, 1)x(1, 1, 0, 12) najniższa AIC wartość wynosi ……... Dlatego powinniśmy uznać tę opcję za optymalną.</a:t>
            </a:r>
            <a:endParaRPr lang="en-GB"/>
          </a:p>
        </p:txBody>
      </p:sp>
      <p:cxnSp>
        <p:nvCxnSpPr>
          <p:cNvPr id="8" name="Łącznik prosty ze strzałką 7">
            <a:extLst>
              <a:ext uri="{FF2B5EF4-FFF2-40B4-BE49-F238E27FC236}">
                <a16:creationId xmlns:a16="http://schemas.microsoft.com/office/drawing/2014/main" id="{FD8DAA9D-AD61-4457-EC89-4516F1A96F32}"/>
              </a:ext>
            </a:extLst>
          </p:cNvPr>
          <p:cNvCxnSpPr>
            <a:cxnSpLocks/>
          </p:cNvCxnSpPr>
          <p:nvPr/>
        </p:nvCxnSpPr>
        <p:spPr>
          <a:xfrm flipH="1">
            <a:off x="4075505" y="3730336"/>
            <a:ext cx="6035040" cy="5510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pole tekstowe 8">
            <a:extLst>
              <a:ext uri="{FF2B5EF4-FFF2-40B4-BE49-F238E27FC236}">
                <a16:creationId xmlns:a16="http://schemas.microsoft.com/office/drawing/2014/main" id="{9737554B-3750-4B3E-E311-101A7AA14EF8}"/>
              </a:ext>
            </a:extLst>
          </p:cNvPr>
          <p:cNvSpPr txBox="1"/>
          <p:nvPr/>
        </p:nvSpPr>
        <p:spPr>
          <a:xfrm>
            <a:off x="10457411" y="3429000"/>
            <a:ext cx="1296785" cy="923330"/>
          </a:xfrm>
          <a:prstGeom prst="rect">
            <a:avLst/>
          </a:prstGeom>
          <a:noFill/>
        </p:spPr>
        <p:txBody>
          <a:bodyPr wrap="square" rtlCol="0">
            <a:spAutoFit/>
          </a:bodyPr>
          <a:lstStyle/>
          <a:p>
            <a:r>
              <a:rPr lang="pl-PL"/>
              <a:t>Znaleźć i wpisać tą wartość</a:t>
            </a:r>
            <a:endParaRPr lang="en-GB"/>
          </a:p>
        </p:txBody>
      </p:sp>
      <p:pic>
        <p:nvPicPr>
          <p:cNvPr id="12" name="Obraz 11">
            <a:extLst>
              <a:ext uri="{FF2B5EF4-FFF2-40B4-BE49-F238E27FC236}">
                <a16:creationId xmlns:a16="http://schemas.microsoft.com/office/drawing/2014/main" id="{A774491A-2BD7-FF77-0614-8B584FFECD20}"/>
              </a:ext>
            </a:extLst>
          </p:cNvPr>
          <p:cNvPicPr>
            <a:picLocks noChangeAspect="1"/>
          </p:cNvPicPr>
          <p:nvPr/>
        </p:nvPicPr>
        <p:blipFill>
          <a:blip r:embed="rId2"/>
          <a:stretch>
            <a:fillRect/>
          </a:stretch>
        </p:blipFill>
        <p:spPr>
          <a:xfrm>
            <a:off x="1832956" y="561747"/>
            <a:ext cx="7810500" cy="2952750"/>
          </a:xfrm>
          <a:prstGeom prst="rect">
            <a:avLst/>
          </a:prstGeom>
        </p:spPr>
      </p:pic>
    </p:spTree>
    <p:extLst>
      <p:ext uri="{BB962C8B-B14F-4D97-AF65-F5344CB8AC3E}">
        <p14:creationId xmlns:p14="http://schemas.microsoft.com/office/powerpoint/2010/main" val="4264527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110D97B7-2A7A-C9BD-53E4-CC9CC3F2B9AF}"/>
              </a:ext>
            </a:extLst>
          </p:cNvPr>
          <p:cNvSpPr txBox="1"/>
          <p:nvPr/>
        </p:nvSpPr>
        <p:spPr>
          <a:xfrm>
            <a:off x="568729" y="380307"/>
            <a:ext cx="11054541" cy="1477328"/>
          </a:xfrm>
          <a:prstGeom prst="rect">
            <a:avLst/>
          </a:prstGeom>
          <a:noFill/>
        </p:spPr>
        <p:txBody>
          <a:bodyPr wrap="square">
            <a:spAutoFit/>
          </a:bodyPr>
          <a:lstStyle/>
          <a:p>
            <a:r>
              <a:rPr lang="pl-PL" b="1"/>
              <a:t>AIC (Kryterium Informacyjne </a:t>
            </a:r>
            <a:r>
              <a:rPr lang="pl-PL" b="1" err="1"/>
              <a:t>Akaike</a:t>
            </a:r>
            <a:r>
              <a:rPr lang="pl-PL"/>
              <a:t>) w statystyce to metoda wyboru najlepszego modelu spośród zbioru kandydatów, porównująca ich dopasowanie do danych z uwzględnieniem ich złożoności (liczby parametrów), dając niższe wartości dla lepszych modeli</a:t>
            </a:r>
            <a:r>
              <a:rPr lang="pl-PL" b="0" i="0">
                <a:solidFill>
                  <a:srgbClr val="0A0A0A"/>
                </a:solidFill>
                <a:effectLst/>
                <a:latin typeface="Google Sans"/>
              </a:rPr>
              <a:t> – celem jest znalezienie </a:t>
            </a:r>
            <a:r>
              <a:rPr lang="pl-PL" b="1" i="0">
                <a:solidFill>
                  <a:srgbClr val="0A0A0A"/>
                </a:solidFill>
                <a:effectLst/>
                <a:latin typeface="Google Sans"/>
              </a:rPr>
              <a:t>najniższego</a:t>
            </a:r>
            <a:r>
              <a:rPr lang="pl-PL" b="0" i="0">
                <a:solidFill>
                  <a:srgbClr val="0A0A0A"/>
                </a:solidFill>
                <a:effectLst/>
                <a:latin typeface="Google Sans"/>
              </a:rPr>
              <a:t> AIC, które równoważy dopasowanie (mały błąd prognozy) z prostotą modelu, aby </a:t>
            </a:r>
            <a:r>
              <a:rPr lang="pl-PL" b="1" i="0">
                <a:solidFill>
                  <a:srgbClr val="0A0A0A"/>
                </a:solidFill>
                <a:effectLst/>
                <a:latin typeface="Google Sans"/>
              </a:rPr>
              <a:t>uniknąć przeuczenia</a:t>
            </a:r>
            <a:r>
              <a:rPr lang="pl-PL" b="0" i="0">
                <a:solidFill>
                  <a:srgbClr val="0A0A0A"/>
                </a:solidFill>
                <a:effectLst/>
                <a:latin typeface="Google Sans"/>
              </a:rPr>
              <a:t>. AIC ocenia </a:t>
            </a:r>
            <a:r>
              <a:rPr lang="pl-PL" b="1" i="0">
                <a:solidFill>
                  <a:srgbClr val="0A0A0A"/>
                </a:solidFill>
                <a:effectLst/>
                <a:latin typeface="Google Sans"/>
              </a:rPr>
              <a:t>względną</a:t>
            </a:r>
            <a:r>
              <a:rPr lang="pl-PL" b="0" i="0">
                <a:solidFill>
                  <a:srgbClr val="0A0A0A"/>
                </a:solidFill>
                <a:effectLst/>
                <a:latin typeface="Google Sans"/>
              </a:rPr>
              <a:t> jakość modeli, a nie bezwzględną. </a:t>
            </a:r>
            <a:endParaRPr lang="pl-PL"/>
          </a:p>
        </p:txBody>
      </p:sp>
      <p:pic>
        <p:nvPicPr>
          <p:cNvPr id="4" name="Obraz 3" descr="Obraz zawierający tekst, zrzut ekranu, Czcionka&#10;&#10;Zawartość wygenerowana przez AI może być niepoprawna.">
            <a:extLst>
              <a:ext uri="{FF2B5EF4-FFF2-40B4-BE49-F238E27FC236}">
                <a16:creationId xmlns:a16="http://schemas.microsoft.com/office/drawing/2014/main" id="{E82F5E25-B47D-80DA-3FEF-33A7565BD02B}"/>
              </a:ext>
            </a:extLst>
          </p:cNvPr>
          <p:cNvPicPr>
            <a:picLocks noChangeAspect="1"/>
          </p:cNvPicPr>
          <p:nvPr/>
        </p:nvPicPr>
        <p:blipFill>
          <a:blip r:embed="rId2"/>
          <a:stretch>
            <a:fillRect/>
          </a:stretch>
        </p:blipFill>
        <p:spPr>
          <a:xfrm>
            <a:off x="706149" y="1969510"/>
            <a:ext cx="4981575" cy="3438525"/>
          </a:xfrm>
          <a:prstGeom prst="rect">
            <a:avLst/>
          </a:prstGeom>
        </p:spPr>
      </p:pic>
      <p:pic>
        <p:nvPicPr>
          <p:cNvPr id="6" name="Obraz 5" descr="Obraz zawierający tekst, Czcionka, zrzut ekranu&#10;&#10;Zawartość wygenerowana przez AI może być niepoprawna.">
            <a:extLst>
              <a:ext uri="{FF2B5EF4-FFF2-40B4-BE49-F238E27FC236}">
                <a16:creationId xmlns:a16="http://schemas.microsoft.com/office/drawing/2014/main" id="{3CD15CDD-0176-9621-1465-184D27577243}"/>
              </a:ext>
            </a:extLst>
          </p:cNvPr>
          <p:cNvPicPr>
            <a:picLocks noChangeAspect="1"/>
          </p:cNvPicPr>
          <p:nvPr/>
        </p:nvPicPr>
        <p:blipFill>
          <a:blip r:embed="rId3"/>
          <a:stretch>
            <a:fillRect/>
          </a:stretch>
        </p:blipFill>
        <p:spPr>
          <a:xfrm>
            <a:off x="6095999" y="2012372"/>
            <a:ext cx="4733925" cy="3352800"/>
          </a:xfrm>
          <a:prstGeom prst="rect">
            <a:avLst/>
          </a:prstGeom>
        </p:spPr>
      </p:pic>
    </p:spTree>
    <p:extLst>
      <p:ext uri="{BB962C8B-B14F-4D97-AF65-F5344CB8AC3E}">
        <p14:creationId xmlns:p14="http://schemas.microsoft.com/office/powerpoint/2010/main" val="1100944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9566FE32-2E7A-45F6-6CF2-CE720B09969A}"/>
              </a:ext>
            </a:extLst>
          </p:cNvPr>
          <p:cNvSpPr txBox="1"/>
          <p:nvPr/>
        </p:nvSpPr>
        <p:spPr>
          <a:xfrm>
            <a:off x="3049386" y="14335"/>
            <a:ext cx="6093228" cy="374461"/>
          </a:xfrm>
          <a:prstGeom prst="rect">
            <a:avLst/>
          </a:prstGeom>
          <a:noFill/>
        </p:spPr>
        <p:txBody>
          <a:bodyPr wrap="square">
            <a:spAutoFit/>
          </a:bodyPr>
          <a:lstStyle/>
          <a:p>
            <a:pPr algn="l">
              <a:lnSpc>
                <a:spcPts val="2250"/>
              </a:lnSpc>
            </a:pPr>
            <a:r>
              <a:rPr lang="en-GB" b="1" i="0" err="1">
                <a:solidFill>
                  <a:srgbClr val="C00000"/>
                </a:solidFill>
                <a:effectLst/>
                <a:latin typeface="sohne"/>
              </a:rPr>
              <a:t>Dopasowanie</a:t>
            </a:r>
            <a:r>
              <a:rPr lang="en-GB" b="1" i="0">
                <a:solidFill>
                  <a:srgbClr val="C00000"/>
                </a:solidFill>
                <a:effectLst/>
                <a:latin typeface="sohne"/>
              </a:rPr>
              <a:t> </a:t>
            </a:r>
            <a:r>
              <a:rPr lang="pl-PL" b="1" i="0">
                <a:solidFill>
                  <a:srgbClr val="C00000"/>
                </a:solidFill>
                <a:effectLst/>
                <a:latin typeface="sohne"/>
              </a:rPr>
              <a:t>i diagnostyka </a:t>
            </a:r>
            <a:r>
              <a:rPr lang="en-GB" b="1" i="0" err="1">
                <a:solidFill>
                  <a:srgbClr val="C00000"/>
                </a:solidFill>
                <a:effectLst/>
                <a:latin typeface="sohne"/>
              </a:rPr>
              <a:t>modelu</a:t>
            </a:r>
            <a:r>
              <a:rPr lang="en-GB" b="1" i="0">
                <a:solidFill>
                  <a:srgbClr val="C00000"/>
                </a:solidFill>
                <a:effectLst/>
                <a:latin typeface="sohne"/>
              </a:rPr>
              <a:t> ARIMA</a:t>
            </a:r>
          </a:p>
        </p:txBody>
      </p:sp>
      <p:sp>
        <p:nvSpPr>
          <p:cNvPr id="7" name="pole tekstowe 6">
            <a:extLst>
              <a:ext uri="{FF2B5EF4-FFF2-40B4-BE49-F238E27FC236}">
                <a16:creationId xmlns:a16="http://schemas.microsoft.com/office/drawing/2014/main" id="{9464B394-5B56-5C20-950B-818340B3C143}"/>
              </a:ext>
            </a:extLst>
          </p:cNvPr>
          <p:cNvSpPr txBox="1"/>
          <p:nvPr/>
        </p:nvSpPr>
        <p:spPr>
          <a:xfrm>
            <a:off x="500958" y="2603215"/>
            <a:ext cx="10970606" cy="369332"/>
          </a:xfrm>
          <a:prstGeom prst="rect">
            <a:avLst/>
          </a:prstGeom>
          <a:noFill/>
        </p:spPr>
        <p:txBody>
          <a:bodyPr wrap="square">
            <a:spAutoFit/>
          </a:bodyPr>
          <a:lstStyle/>
          <a:p>
            <a:r>
              <a:rPr lang="pl-PL" b="0" i="0">
                <a:solidFill>
                  <a:srgbClr val="242424"/>
                </a:solidFill>
                <a:effectLst/>
                <a:latin typeface="source-serif-pro"/>
              </a:rPr>
              <a:t>Zawsze powinniśmy przeprowadzać diagnostykę modelu w celu zbadania wszelkich nietypowych </a:t>
            </a:r>
            <a:r>
              <a:rPr lang="pl-PL" b="0" i="0" err="1">
                <a:solidFill>
                  <a:srgbClr val="242424"/>
                </a:solidFill>
                <a:effectLst/>
                <a:latin typeface="source-serif-pro"/>
              </a:rPr>
              <a:t>zachowań</a:t>
            </a:r>
            <a:r>
              <a:rPr lang="pl-PL" b="0" i="0">
                <a:solidFill>
                  <a:srgbClr val="242424"/>
                </a:solidFill>
                <a:effectLst/>
                <a:latin typeface="source-serif-pro"/>
              </a:rPr>
              <a:t>.</a:t>
            </a:r>
            <a:endParaRPr lang="en-GB"/>
          </a:p>
        </p:txBody>
      </p:sp>
      <p:pic>
        <p:nvPicPr>
          <p:cNvPr id="9" name="Obraz 8">
            <a:extLst>
              <a:ext uri="{FF2B5EF4-FFF2-40B4-BE49-F238E27FC236}">
                <a16:creationId xmlns:a16="http://schemas.microsoft.com/office/drawing/2014/main" id="{7F7F6F11-6E4A-8A64-5DED-D37FAFB5EC23}"/>
              </a:ext>
            </a:extLst>
          </p:cNvPr>
          <p:cNvPicPr>
            <a:picLocks noChangeAspect="1"/>
          </p:cNvPicPr>
          <p:nvPr/>
        </p:nvPicPr>
        <p:blipFill>
          <a:blip r:embed="rId2"/>
          <a:stretch>
            <a:fillRect/>
          </a:stretch>
        </p:blipFill>
        <p:spPr>
          <a:xfrm>
            <a:off x="2257425" y="3129875"/>
            <a:ext cx="3838575" cy="619125"/>
          </a:xfrm>
          <a:prstGeom prst="rect">
            <a:avLst/>
          </a:prstGeom>
        </p:spPr>
      </p:pic>
      <p:sp>
        <p:nvSpPr>
          <p:cNvPr id="11" name="pole tekstowe 10">
            <a:extLst>
              <a:ext uri="{FF2B5EF4-FFF2-40B4-BE49-F238E27FC236}">
                <a16:creationId xmlns:a16="http://schemas.microsoft.com/office/drawing/2014/main" id="{6052CAF4-B523-F7AC-A6A4-99BE82B31560}"/>
              </a:ext>
            </a:extLst>
          </p:cNvPr>
          <p:cNvSpPr txBox="1"/>
          <p:nvPr/>
        </p:nvSpPr>
        <p:spPr>
          <a:xfrm>
            <a:off x="648392" y="4227565"/>
            <a:ext cx="10823171" cy="338554"/>
          </a:xfrm>
          <a:prstGeom prst="rect">
            <a:avLst/>
          </a:prstGeom>
          <a:noFill/>
        </p:spPr>
        <p:txBody>
          <a:bodyPr wrap="square">
            <a:spAutoFit/>
          </a:bodyPr>
          <a:lstStyle/>
          <a:p>
            <a:r>
              <a:rPr lang="pl-PL" sz="1600" b="0" i="0">
                <a:solidFill>
                  <a:srgbClr val="242424"/>
                </a:solidFill>
                <a:effectLst/>
                <a:latin typeface="source-serif-pro"/>
              </a:rPr>
              <a:t>Model nie jest doskonały, ale diagnostyka naszego modelu wskazuje, że reszty modelu mają rozkład zbliżony do normalnego.</a:t>
            </a:r>
            <a:endParaRPr lang="en-GB" sz="1600"/>
          </a:p>
        </p:txBody>
      </p:sp>
      <p:sp>
        <p:nvSpPr>
          <p:cNvPr id="6" name="pole tekstowe 5">
            <a:extLst>
              <a:ext uri="{FF2B5EF4-FFF2-40B4-BE49-F238E27FC236}">
                <a16:creationId xmlns:a16="http://schemas.microsoft.com/office/drawing/2014/main" id="{F3724FE4-1E60-85CE-3B13-2995DA954A1A}"/>
              </a:ext>
            </a:extLst>
          </p:cNvPr>
          <p:cNvSpPr txBox="1"/>
          <p:nvPr/>
        </p:nvSpPr>
        <p:spPr>
          <a:xfrm>
            <a:off x="500958" y="4812340"/>
            <a:ext cx="11190084" cy="1600438"/>
          </a:xfrm>
          <a:prstGeom prst="rect">
            <a:avLst/>
          </a:prstGeom>
          <a:noFill/>
        </p:spPr>
        <p:txBody>
          <a:bodyPr wrap="square">
            <a:spAutoFit/>
          </a:bodyPr>
          <a:lstStyle/>
          <a:p>
            <a:r>
              <a:rPr lang="pl-PL" sz="1400" b="1"/>
              <a:t>Na wykresie w prawym górnym rogu </a:t>
            </a:r>
            <a:r>
              <a:rPr lang="pl-PL" sz="1400"/>
              <a:t>widzimy, że czerwona </a:t>
            </a:r>
            <a:r>
              <a:rPr lang="pl-PL" sz="1400" err="1"/>
              <a:t>KDElinia</a:t>
            </a:r>
            <a:r>
              <a:rPr lang="pl-PL" sz="1400"/>
              <a:t> podąża tuż za N(0,1)linią (gdzie N(0,1)) jest standardową notacją rozkładu normalnego ze średnią 0i odchyleniem standardowym 1).</a:t>
            </a:r>
          </a:p>
          <a:p>
            <a:r>
              <a:rPr lang="pl-PL" sz="1400" b="1"/>
              <a:t>Wykres </a:t>
            </a:r>
            <a:r>
              <a:rPr lang="pl-PL" sz="1400" b="1" err="1"/>
              <a:t>qq</a:t>
            </a:r>
            <a:r>
              <a:rPr lang="pl-PL" sz="1400" b="1"/>
              <a:t> w lewym dolnym rogu </a:t>
            </a:r>
            <a:r>
              <a:rPr lang="pl-PL" sz="1400"/>
              <a:t>pokazuje, że uporządkowany rozkład reszt (niebieskie kropki) podąża za liniowym trendem próbek pobranych ze standardowego rozkładu normalnego z N(0, 1). </a:t>
            </a:r>
          </a:p>
          <a:p>
            <a:r>
              <a:rPr lang="pl-PL" sz="1400" b="1"/>
              <a:t>Reszty w czasie (lewy górny wykres</a:t>
            </a:r>
            <a:r>
              <a:rPr lang="pl-PL" sz="1400"/>
              <a:t>) nie wykazują żadnej oczywistej sezonowości. </a:t>
            </a:r>
          </a:p>
          <a:p>
            <a:r>
              <a:rPr lang="pl-PL" sz="1400"/>
              <a:t>Potwierdza to </a:t>
            </a:r>
            <a:r>
              <a:rPr lang="pl-PL" sz="1400" b="1"/>
              <a:t>wykres autokorelacji (tj. </a:t>
            </a:r>
            <a:r>
              <a:rPr lang="pl-PL" sz="1400" b="1" err="1"/>
              <a:t>correlogram</a:t>
            </a:r>
            <a:r>
              <a:rPr lang="pl-PL" sz="1400" b="1"/>
              <a:t>)</a:t>
            </a:r>
            <a:r>
              <a:rPr lang="pl-PL" sz="1400"/>
              <a:t> </a:t>
            </a:r>
            <a:r>
              <a:rPr lang="pl-PL" sz="1400" b="1"/>
              <a:t>w prawym dolnym rogu</a:t>
            </a:r>
            <a:r>
              <a:rPr lang="pl-PL" sz="1400"/>
              <a:t>, który pokazuje, że reszty szeregów czasowych mają w przewadze  niską korelację z opóźnionymi wersjami samych siebie.</a:t>
            </a:r>
            <a:endParaRPr lang="en-GB" sz="1400"/>
          </a:p>
        </p:txBody>
      </p:sp>
      <p:pic>
        <p:nvPicPr>
          <p:cNvPr id="4" name="Obraz 3">
            <a:extLst>
              <a:ext uri="{FF2B5EF4-FFF2-40B4-BE49-F238E27FC236}">
                <a16:creationId xmlns:a16="http://schemas.microsoft.com/office/drawing/2014/main" id="{20B40FA5-0D8F-D8E2-9D4D-C5BBE5DBF097}"/>
              </a:ext>
            </a:extLst>
          </p:cNvPr>
          <p:cNvPicPr>
            <a:picLocks noChangeAspect="1"/>
          </p:cNvPicPr>
          <p:nvPr/>
        </p:nvPicPr>
        <p:blipFill>
          <a:blip r:embed="rId3"/>
          <a:stretch>
            <a:fillRect/>
          </a:stretch>
        </p:blipFill>
        <p:spPr>
          <a:xfrm>
            <a:off x="2498495" y="809803"/>
            <a:ext cx="5647978" cy="1602805"/>
          </a:xfrm>
          <a:prstGeom prst="rect">
            <a:avLst/>
          </a:prstGeom>
        </p:spPr>
      </p:pic>
    </p:spTree>
    <p:extLst>
      <p:ext uri="{BB962C8B-B14F-4D97-AF65-F5344CB8AC3E}">
        <p14:creationId xmlns:p14="http://schemas.microsoft.com/office/powerpoint/2010/main" val="2083771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9A8B507B-A561-A2CB-39AF-CDAC47595379}"/>
              </a:ext>
            </a:extLst>
          </p:cNvPr>
          <p:cNvSpPr txBox="1"/>
          <p:nvPr/>
        </p:nvSpPr>
        <p:spPr>
          <a:xfrm>
            <a:off x="2414846" y="304411"/>
            <a:ext cx="8192193" cy="1589538"/>
          </a:xfrm>
          <a:prstGeom prst="rect">
            <a:avLst/>
          </a:prstGeom>
          <a:noFill/>
        </p:spPr>
        <p:txBody>
          <a:bodyPr wrap="square">
            <a:spAutoFit/>
          </a:bodyPr>
          <a:lstStyle/>
          <a:p>
            <a:pPr algn="l">
              <a:lnSpc>
                <a:spcPts val="2250"/>
              </a:lnSpc>
            </a:pPr>
            <a:r>
              <a:rPr lang="pl-PL" b="1" i="0">
                <a:solidFill>
                  <a:srgbClr val="C00000"/>
                </a:solidFill>
                <a:effectLst/>
                <a:latin typeface="sohne"/>
              </a:rPr>
              <a:t>Weryfikacja prognoz</a:t>
            </a:r>
          </a:p>
          <a:p>
            <a:pPr algn="l">
              <a:lnSpc>
                <a:spcPts val="2250"/>
              </a:lnSpc>
            </a:pPr>
            <a:endParaRPr lang="pl-PL" b="1" i="0">
              <a:solidFill>
                <a:srgbClr val="242424"/>
              </a:solidFill>
              <a:effectLst/>
              <a:latin typeface="sohne"/>
            </a:endParaRPr>
          </a:p>
          <a:p>
            <a:pPr algn="l">
              <a:lnSpc>
                <a:spcPts val="2400"/>
              </a:lnSpc>
            </a:pPr>
            <a:r>
              <a:rPr lang="pl-PL" b="0" i="0">
                <a:solidFill>
                  <a:srgbClr val="242424"/>
                </a:solidFill>
                <a:effectLst/>
                <a:latin typeface="source-serif-pro"/>
              </a:rPr>
              <a:t>Aby lepiej zrozumieć dokładność naszych prognoz, porównujemy przewidywaną sprzedaż ze sprzedażą rzeczywistą w szeregach czasowych i ustalamy prognozy rozpoczynające się od 2017–01–01 i kończące się na końcu danych.</a:t>
            </a:r>
          </a:p>
        </p:txBody>
      </p:sp>
      <p:pic>
        <p:nvPicPr>
          <p:cNvPr id="5" name="Obraz 4">
            <a:extLst>
              <a:ext uri="{FF2B5EF4-FFF2-40B4-BE49-F238E27FC236}">
                <a16:creationId xmlns:a16="http://schemas.microsoft.com/office/drawing/2014/main" id="{255822CE-403F-F74F-EF4B-5EEF3A828623}"/>
              </a:ext>
            </a:extLst>
          </p:cNvPr>
          <p:cNvPicPr>
            <a:picLocks noChangeAspect="1"/>
          </p:cNvPicPr>
          <p:nvPr/>
        </p:nvPicPr>
        <p:blipFill>
          <a:blip r:embed="rId2"/>
          <a:stretch>
            <a:fillRect/>
          </a:stretch>
        </p:blipFill>
        <p:spPr>
          <a:xfrm>
            <a:off x="2247900" y="2092469"/>
            <a:ext cx="7696200" cy="3171825"/>
          </a:xfrm>
          <a:prstGeom prst="rect">
            <a:avLst/>
          </a:prstGeom>
        </p:spPr>
      </p:pic>
      <p:sp>
        <p:nvSpPr>
          <p:cNvPr id="7" name="pole tekstowe 6">
            <a:extLst>
              <a:ext uri="{FF2B5EF4-FFF2-40B4-BE49-F238E27FC236}">
                <a16:creationId xmlns:a16="http://schemas.microsoft.com/office/drawing/2014/main" id="{73206F69-DDCC-7359-323D-4C32C5572D97}"/>
              </a:ext>
            </a:extLst>
          </p:cNvPr>
          <p:cNvSpPr txBox="1"/>
          <p:nvPr/>
        </p:nvSpPr>
        <p:spPr>
          <a:xfrm>
            <a:off x="3113116" y="5462814"/>
            <a:ext cx="8724207" cy="1200329"/>
          </a:xfrm>
          <a:prstGeom prst="rect">
            <a:avLst/>
          </a:prstGeom>
          <a:noFill/>
        </p:spPr>
        <p:txBody>
          <a:bodyPr wrap="square">
            <a:spAutoFit/>
          </a:bodyPr>
          <a:lstStyle/>
          <a:p>
            <a:r>
              <a:rPr lang="pl-PL" b="0" i="0">
                <a:solidFill>
                  <a:srgbClr val="242424"/>
                </a:solidFill>
                <a:effectLst/>
                <a:latin typeface="source-serif-pro"/>
              </a:rPr>
              <a:t>Wykres liniowy pokazuje obserwowane wartości w porównaniu z prognozami prognozy toczącej się. Ogólnie rzecz biorąc, nasze prognozy bardzo dobrze odpowiadają rzeczywistym wartościom, pokazując trend wzrostowy rozpoczynający się od początku roku i </a:t>
            </a:r>
            <a:r>
              <a:rPr lang="pl-PL" b="0" i="0" err="1">
                <a:solidFill>
                  <a:srgbClr val="242424"/>
                </a:solidFill>
                <a:effectLst/>
                <a:latin typeface="source-serif-pro"/>
              </a:rPr>
              <a:t>uchwycający</a:t>
            </a:r>
            <a:r>
              <a:rPr lang="pl-PL" b="0" i="0">
                <a:solidFill>
                  <a:srgbClr val="242424"/>
                </a:solidFill>
                <a:effectLst/>
                <a:latin typeface="source-serif-pro"/>
              </a:rPr>
              <a:t> sezonowość pod koniec roku.</a:t>
            </a:r>
            <a:endParaRPr lang="en-GB"/>
          </a:p>
        </p:txBody>
      </p:sp>
    </p:spTree>
    <p:extLst>
      <p:ext uri="{BB962C8B-B14F-4D97-AF65-F5344CB8AC3E}">
        <p14:creationId xmlns:p14="http://schemas.microsoft.com/office/powerpoint/2010/main" val="2409510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43D3AC34-55A5-109B-382A-36BF7FAD75A1}"/>
              </a:ext>
            </a:extLst>
          </p:cNvPr>
          <p:cNvPicPr>
            <a:picLocks noChangeAspect="1"/>
          </p:cNvPicPr>
          <p:nvPr/>
        </p:nvPicPr>
        <p:blipFill>
          <a:blip r:embed="rId2"/>
          <a:stretch>
            <a:fillRect/>
          </a:stretch>
        </p:blipFill>
        <p:spPr>
          <a:xfrm>
            <a:off x="2023196" y="712470"/>
            <a:ext cx="6981825" cy="1409700"/>
          </a:xfrm>
          <a:prstGeom prst="rect">
            <a:avLst/>
          </a:prstGeom>
        </p:spPr>
      </p:pic>
      <p:pic>
        <p:nvPicPr>
          <p:cNvPr id="5" name="Obraz 4">
            <a:extLst>
              <a:ext uri="{FF2B5EF4-FFF2-40B4-BE49-F238E27FC236}">
                <a16:creationId xmlns:a16="http://schemas.microsoft.com/office/drawing/2014/main" id="{D1C6954F-BFA8-A786-132D-9AA2AAA644D6}"/>
              </a:ext>
            </a:extLst>
          </p:cNvPr>
          <p:cNvPicPr>
            <a:picLocks noChangeAspect="1"/>
          </p:cNvPicPr>
          <p:nvPr/>
        </p:nvPicPr>
        <p:blipFill>
          <a:blip r:embed="rId3"/>
          <a:stretch>
            <a:fillRect/>
          </a:stretch>
        </p:blipFill>
        <p:spPr>
          <a:xfrm>
            <a:off x="2023196" y="2513820"/>
            <a:ext cx="7715250" cy="600075"/>
          </a:xfrm>
          <a:prstGeom prst="rect">
            <a:avLst/>
          </a:prstGeom>
        </p:spPr>
      </p:pic>
      <p:sp>
        <p:nvSpPr>
          <p:cNvPr id="6" name="pole tekstowe 5">
            <a:extLst>
              <a:ext uri="{FF2B5EF4-FFF2-40B4-BE49-F238E27FC236}">
                <a16:creationId xmlns:a16="http://schemas.microsoft.com/office/drawing/2014/main" id="{80CCE1A5-9015-CAEA-B85C-BBB2A79EA6B6}"/>
              </a:ext>
            </a:extLst>
          </p:cNvPr>
          <p:cNvSpPr txBox="1"/>
          <p:nvPr/>
        </p:nvSpPr>
        <p:spPr>
          <a:xfrm>
            <a:off x="2244436" y="266007"/>
            <a:ext cx="4239491" cy="369332"/>
          </a:xfrm>
          <a:prstGeom prst="rect">
            <a:avLst/>
          </a:prstGeom>
          <a:noFill/>
        </p:spPr>
        <p:txBody>
          <a:bodyPr wrap="square" rtlCol="0">
            <a:spAutoFit/>
          </a:bodyPr>
          <a:lstStyle/>
          <a:p>
            <a:r>
              <a:rPr lang="pl-PL" b="1">
                <a:solidFill>
                  <a:srgbClr val="C00000"/>
                </a:solidFill>
              </a:rPr>
              <a:t>Miary błędów prognozy</a:t>
            </a:r>
            <a:endParaRPr lang="en-GB" b="1">
              <a:solidFill>
                <a:srgbClr val="C00000"/>
              </a:solidFill>
            </a:endParaRPr>
          </a:p>
        </p:txBody>
      </p:sp>
      <p:sp>
        <p:nvSpPr>
          <p:cNvPr id="8" name="pole tekstowe 7">
            <a:extLst>
              <a:ext uri="{FF2B5EF4-FFF2-40B4-BE49-F238E27FC236}">
                <a16:creationId xmlns:a16="http://schemas.microsoft.com/office/drawing/2014/main" id="{76FB4DA5-8A46-78FB-A2BC-7AD15D7FBBA5}"/>
              </a:ext>
            </a:extLst>
          </p:cNvPr>
          <p:cNvSpPr txBox="1"/>
          <p:nvPr/>
        </p:nvSpPr>
        <p:spPr>
          <a:xfrm>
            <a:off x="798021" y="3916532"/>
            <a:ext cx="11039301" cy="2230739"/>
          </a:xfrm>
          <a:prstGeom prst="rect">
            <a:avLst/>
          </a:prstGeom>
          <a:noFill/>
        </p:spPr>
        <p:txBody>
          <a:bodyPr wrap="square">
            <a:spAutoFit/>
          </a:bodyPr>
          <a:lstStyle/>
          <a:p>
            <a:pPr algn="l">
              <a:lnSpc>
                <a:spcPts val="2400"/>
              </a:lnSpc>
            </a:pPr>
            <a:r>
              <a:rPr lang="pl-PL" b="0" i="0">
                <a:solidFill>
                  <a:srgbClr val="242424"/>
                </a:solidFill>
                <a:effectLst/>
                <a:latin typeface="source-serif-pro"/>
              </a:rPr>
              <a:t>W statystyce </a:t>
            </a:r>
            <a:r>
              <a:rPr lang="pl-PL" b="0" i="0" u="sng">
                <a:solidFill>
                  <a:srgbClr val="242424"/>
                </a:solidFill>
                <a:effectLst/>
                <a:latin typeface="source-serif-pro"/>
                <a:hlinkClick r:id="rId4"/>
              </a:rPr>
              <a:t>średni błąd kwadratowy (MSE)</a:t>
            </a:r>
            <a:r>
              <a:rPr lang="pl-PL" b="0" i="0">
                <a:solidFill>
                  <a:srgbClr val="242424"/>
                </a:solidFill>
                <a:effectLst/>
                <a:latin typeface="source-serif-pro"/>
              </a:rPr>
              <a:t> estymatora mierzy średnią kwadratów błędów — to znaczy średnią kwadratową różnicę między wartościami oszacowanymi a tym, co oszacowano. MSE jest miarą jakości estymatora — zawsze jest nieujemny, a im mniejszy MSE, tym bliżej jesteśmy znalezienia linii najlepszego dopasowania.</a:t>
            </a:r>
          </a:p>
          <a:p>
            <a:pPr algn="l">
              <a:lnSpc>
                <a:spcPts val="2400"/>
              </a:lnSpc>
            </a:pPr>
            <a:endParaRPr lang="pl-PL" b="0" i="0">
              <a:solidFill>
                <a:srgbClr val="242424"/>
              </a:solidFill>
              <a:effectLst/>
              <a:latin typeface="source-serif-pro"/>
            </a:endParaRPr>
          </a:p>
          <a:p>
            <a:pPr algn="l">
              <a:lnSpc>
                <a:spcPts val="2400"/>
              </a:lnSpc>
            </a:pPr>
            <a:r>
              <a:rPr lang="pl-PL" b="0" i="0" u="sng">
                <a:solidFill>
                  <a:srgbClr val="242424"/>
                </a:solidFill>
                <a:effectLst/>
                <a:latin typeface="source-serif-pro"/>
                <a:hlinkClick r:id="rId5"/>
              </a:rPr>
              <a:t>Średni błąd kwadratowy (RMSE)</a:t>
            </a:r>
            <a:r>
              <a:rPr lang="pl-PL" b="0" i="0">
                <a:solidFill>
                  <a:srgbClr val="242424"/>
                </a:solidFill>
                <a:effectLst/>
                <a:latin typeface="source-serif-pro"/>
              </a:rPr>
              <a:t> mówi nam, że nasz model był w stanie przewidzieć średnią dzienną sprzedaż mebli w zestawie testowym w zakresie 151,64 rzeczywistej sprzedaży. Nasza dzienna sprzedaż mebli waha się od około 400 do ponad 1200. Moim zdaniem jest to jak dotąd całkiem dobry model.</a:t>
            </a:r>
          </a:p>
        </p:txBody>
      </p:sp>
    </p:spTree>
    <p:extLst>
      <p:ext uri="{BB962C8B-B14F-4D97-AF65-F5344CB8AC3E}">
        <p14:creationId xmlns:p14="http://schemas.microsoft.com/office/powerpoint/2010/main" val="823683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A68D1F7B-36EF-EFFE-1EE1-0809E43D5D7B}"/>
              </a:ext>
            </a:extLst>
          </p:cNvPr>
          <p:cNvSpPr txBox="1"/>
          <p:nvPr/>
        </p:nvSpPr>
        <p:spPr>
          <a:xfrm>
            <a:off x="3828012" y="319846"/>
            <a:ext cx="6093228" cy="374461"/>
          </a:xfrm>
          <a:prstGeom prst="rect">
            <a:avLst/>
          </a:prstGeom>
          <a:noFill/>
        </p:spPr>
        <p:txBody>
          <a:bodyPr wrap="square">
            <a:spAutoFit/>
          </a:bodyPr>
          <a:lstStyle/>
          <a:p>
            <a:pPr algn="l">
              <a:lnSpc>
                <a:spcPts val="2250"/>
              </a:lnSpc>
            </a:pPr>
            <a:r>
              <a:rPr lang="en-GB" b="1" i="0" err="1">
                <a:solidFill>
                  <a:srgbClr val="C00000"/>
                </a:solidFill>
                <a:effectLst/>
                <a:latin typeface="sohne"/>
              </a:rPr>
              <a:t>Tworzenie</a:t>
            </a:r>
            <a:r>
              <a:rPr lang="en-GB" b="1" i="0">
                <a:solidFill>
                  <a:srgbClr val="C00000"/>
                </a:solidFill>
                <a:effectLst/>
                <a:latin typeface="sohne"/>
              </a:rPr>
              <a:t> </a:t>
            </a:r>
            <a:r>
              <a:rPr lang="en-GB" b="1" i="0" err="1">
                <a:solidFill>
                  <a:srgbClr val="C00000"/>
                </a:solidFill>
                <a:effectLst/>
                <a:latin typeface="sohne"/>
              </a:rPr>
              <a:t>i</a:t>
            </a:r>
            <a:r>
              <a:rPr lang="en-GB" b="1" i="0">
                <a:solidFill>
                  <a:srgbClr val="C00000"/>
                </a:solidFill>
                <a:effectLst/>
                <a:latin typeface="sohne"/>
              </a:rPr>
              <a:t> </a:t>
            </a:r>
            <a:r>
              <a:rPr lang="en-GB" b="1" i="0" err="1">
                <a:solidFill>
                  <a:srgbClr val="C00000"/>
                </a:solidFill>
                <a:effectLst/>
                <a:latin typeface="sohne"/>
              </a:rPr>
              <a:t>wizualizacja</a:t>
            </a:r>
            <a:r>
              <a:rPr lang="en-GB" b="1" i="0">
                <a:solidFill>
                  <a:srgbClr val="C00000"/>
                </a:solidFill>
                <a:effectLst/>
                <a:latin typeface="sohne"/>
              </a:rPr>
              <a:t> </a:t>
            </a:r>
            <a:r>
              <a:rPr lang="en-GB" b="1" i="0" err="1">
                <a:solidFill>
                  <a:srgbClr val="C00000"/>
                </a:solidFill>
                <a:effectLst/>
                <a:latin typeface="sohne"/>
              </a:rPr>
              <a:t>prognoz</a:t>
            </a:r>
            <a:endParaRPr lang="en-GB" b="1" i="0">
              <a:solidFill>
                <a:srgbClr val="C00000"/>
              </a:solidFill>
              <a:effectLst/>
              <a:latin typeface="sohne"/>
            </a:endParaRPr>
          </a:p>
        </p:txBody>
      </p:sp>
      <p:pic>
        <p:nvPicPr>
          <p:cNvPr id="5" name="Obraz 4">
            <a:extLst>
              <a:ext uri="{FF2B5EF4-FFF2-40B4-BE49-F238E27FC236}">
                <a16:creationId xmlns:a16="http://schemas.microsoft.com/office/drawing/2014/main" id="{51C88B0A-A525-5DC3-1BA2-162B18C4AE91}"/>
              </a:ext>
            </a:extLst>
          </p:cNvPr>
          <p:cNvPicPr>
            <a:picLocks noChangeAspect="1"/>
          </p:cNvPicPr>
          <p:nvPr/>
        </p:nvPicPr>
        <p:blipFill>
          <a:blip r:embed="rId2"/>
          <a:stretch>
            <a:fillRect/>
          </a:stretch>
        </p:blipFill>
        <p:spPr>
          <a:xfrm>
            <a:off x="3087225" y="1002809"/>
            <a:ext cx="5153025" cy="2790825"/>
          </a:xfrm>
          <a:prstGeom prst="rect">
            <a:avLst/>
          </a:prstGeom>
        </p:spPr>
      </p:pic>
      <p:sp>
        <p:nvSpPr>
          <p:cNvPr id="7" name="pole tekstowe 6">
            <a:extLst>
              <a:ext uri="{FF2B5EF4-FFF2-40B4-BE49-F238E27FC236}">
                <a16:creationId xmlns:a16="http://schemas.microsoft.com/office/drawing/2014/main" id="{C2DFC364-3F0B-1731-4760-74809323325D}"/>
              </a:ext>
            </a:extLst>
          </p:cNvPr>
          <p:cNvSpPr txBox="1"/>
          <p:nvPr/>
        </p:nvSpPr>
        <p:spPr>
          <a:xfrm>
            <a:off x="484909" y="4240005"/>
            <a:ext cx="11222181" cy="1922962"/>
          </a:xfrm>
          <a:prstGeom prst="rect">
            <a:avLst/>
          </a:prstGeom>
          <a:noFill/>
        </p:spPr>
        <p:txBody>
          <a:bodyPr wrap="square">
            <a:spAutoFit/>
          </a:bodyPr>
          <a:lstStyle/>
          <a:p>
            <a:pPr algn="l">
              <a:lnSpc>
                <a:spcPts val="2400"/>
              </a:lnSpc>
            </a:pPr>
            <a:r>
              <a:rPr lang="pl-PL" b="0" i="0">
                <a:solidFill>
                  <a:srgbClr val="242424"/>
                </a:solidFill>
                <a:effectLst/>
                <a:latin typeface="source-serif-pro"/>
              </a:rPr>
              <a:t>Nasz model wyraźnie uchwycił sezonowość sprzedaży mebli. Gdy prognozujemy dalej w przyszłość, naturalne jest, że stajemy się mniej pewni naszych wartości. Odzwierciedlają to przedziały ufności generowane przez nasz model, które stają się większe w miarę jak przesuwamy się dalej w przyszłość.</a:t>
            </a:r>
          </a:p>
          <a:p>
            <a:pPr algn="l">
              <a:lnSpc>
                <a:spcPts val="2400"/>
              </a:lnSpc>
            </a:pPr>
            <a:endParaRPr lang="pl-PL" b="0" i="0">
              <a:solidFill>
                <a:srgbClr val="242424"/>
              </a:solidFill>
              <a:effectLst/>
              <a:latin typeface="source-serif-pro"/>
            </a:endParaRPr>
          </a:p>
          <a:p>
            <a:pPr algn="l">
              <a:lnSpc>
                <a:spcPts val="2400"/>
              </a:lnSpc>
            </a:pPr>
            <a:r>
              <a:rPr lang="pl-PL" b="0" i="0">
                <a:solidFill>
                  <a:srgbClr val="242424"/>
                </a:solidFill>
                <a:effectLst/>
                <a:latin typeface="source-serif-pro"/>
              </a:rPr>
              <a:t>Powyższa analiza szeregów czasowych dla mebli wzbudza ciekawość w stosunku do innych kategorii i do tego, jak wypadają one w porównaniu z innymi w czasie. Dlatego porównamy szeregi czasowe mebli i dostawców biur.</a:t>
            </a:r>
          </a:p>
        </p:txBody>
      </p:sp>
    </p:spTree>
    <p:extLst>
      <p:ext uri="{BB962C8B-B14F-4D97-AF65-F5344CB8AC3E}">
        <p14:creationId xmlns:p14="http://schemas.microsoft.com/office/powerpoint/2010/main" val="3880416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7AB1CB66-D4AC-21BD-1979-54A274FF7CD3}"/>
              </a:ext>
            </a:extLst>
          </p:cNvPr>
          <p:cNvSpPr txBox="1"/>
          <p:nvPr/>
        </p:nvSpPr>
        <p:spPr>
          <a:xfrm>
            <a:off x="2614353" y="296305"/>
            <a:ext cx="7826432" cy="1281761"/>
          </a:xfrm>
          <a:prstGeom prst="rect">
            <a:avLst/>
          </a:prstGeom>
          <a:noFill/>
        </p:spPr>
        <p:txBody>
          <a:bodyPr wrap="square">
            <a:spAutoFit/>
          </a:bodyPr>
          <a:lstStyle/>
          <a:p>
            <a:pPr algn="l">
              <a:lnSpc>
                <a:spcPts val="2250"/>
              </a:lnSpc>
            </a:pPr>
            <a:r>
              <a:rPr lang="pl-PL" b="1" i="0">
                <a:solidFill>
                  <a:srgbClr val="C00000"/>
                </a:solidFill>
                <a:effectLst/>
                <a:latin typeface="sohne"/>
              </a:rPr>
              <a:t>Szeregi czasowe mebli i artykułów biurowych</a:t>
            </a:r>
          </a:p>
          <a:p>
            <a:pPr algn="l">
              <a:lnSpc>
                <a:spcPts val="2250"/>
              </a:lnSpc>
            </a:pPr>
            <a:endParaRPr lang="pl-PL" b="1" i="0">
              <a:solidFill>
                <a:srgbClr val="242424"/>
              </a:solidFill>
              <a:effectLst/>
              <a:latin typeface="sohne"/>
            </a:endParaRPr>
          </a:p>
          <a:p>
            <a:pPr algn="l">
              <a:lnSpc>
                <a:spcPts val="2400"/>
              </a:lnSpc>
            </a:pPr>
            <a:r>
              <a:rPr lang="pl-PL" b="0" i="0">
                <a:solidFill>
                  <a:srgbClr val="242424"/>
                </a:solidFill>
                <a:effectLst/>
                <a:latin typeface="source-serif-pro"/>
              </a:rPr>
              <a:t>Z naszych danych wynika, że ​​na przestrzeni lat sprzedaż artykułów biurowych była znacznie większa niż sprzedaż mebli.</a:t>
            </a:r>
          </a:p>
        </p:txBody>
      </p:sp>
      <p:pic>
        <p:nvPicPr>
          <p:cNvPr id="5" name="Obraz 4">
            <a:extLst>
              <a:ext uri="{FF2B5EF4-FFF2-40B4-BE49-F238E27FC236}">
                <a16:creationId xmlns:a16="http://schemas.microsoft.com/office/drawing/2014/main" id="{253385C3-2812-E956-2338-10FDE0B37DF0}"/>
              </a:ext>
            </a:extLst>
          </p:cNvPr>
          <p:cNvPicPr>
            <a:picLocks noChangeAspect="1"/>
          </p:cNvPicPr>
          <p:nvPr/>
        </p:nvPicPr>
        <p:blipFill>
          <a:blip r:embed="rId2"/>
          <a:stretch>
            <a:fillRect/>
          </a:stretch>
        </p:blipFill>
        <p:spPr>
          <a:xfrm>
            <a:off x="1927600" y="1776845"/>
            <a:ext cx="5610225" cy="1143000"/>
          </a:xfrm>
          <a:prstGeom prst="rect">
            <a:avLst/>
          </a:prstGeom>
        </p:spPr>
      </p:pic>
      <p:pic>
        <p:nvPicPr>
          <p:cNvPr id="11" name="Obraz 10">
            <a:extLst>
              <a:ext uri="{FF2B5EF4-FFF2-40B4-BE49-F238E27FC236}">
                <a16:creationId xmlns:a16="http://schemas.microsoft.com/office/drawing/2014/main" id="{626BB414-870F-0DA2-B0D9-A08D69E3C82A}"/>
              </a:ext>
            </a:extLst>
          </p:cNvPr>
          <p:cNvPicPr>
            <a:picLocks noChangeAspect="1"/>
          </p:cNvPicPr>
          <p:nvPr/>
        </p:nvPicPr>
        <p:blipFill>
          <a:blip r:embed="rId3"/>
          <a:stretch>
            <a:fillRect/>
          </a:stretch>
        </p:blipFill>
        <p:spPr>
          <a:xfrm>
            <a:off x="1927600" y="2885261"/>
            <a:ext cx="2838450" cy="466725"/>
          </a:xfrm>
          <a:prstGeom prst="rect">
            <a:avLst/>
          </a:prstGeom>
        </p:spPr>
      </p:pic>
    </p:spTree>
    <p:extLst>
      <p:ext uri="{BB962C8B-B14F-4D97-AF65-F5344CB8AC3E}">
        <p14:creationId xmlns:p14="http://schemas.microsoft.com/office/powerpoint/2010/main" val="2521690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az 3">
            <a:extLst>
              <a:ext uri="{FF2B5EF4-FFF2-40B4-BE49-F238E27FC236}">
                <a16:creationId xmlns:a16="http://schemas.microsoft.com/office/drawing/2014/main" id="{66DB3A63-182E-4CC5-3E45-B7F7ADE2AFFB}"/>
              </a:ext>
            </a:extLst>
          </p:cNvPr>
          <p:cNvPicPr>
            <a:picLocks noChangeAspect="1"/>
          </p:cNvPicPr>
          <p:nvPr/>
        </p:nvPicPr>
        <p:blipFill>
          <a:blip r:embed="rId2"/>
          <a:stretch>
            <a:fillRect/>
          </a:stretch>
        </p:blipFill>
        <p:spPr>
          <a:xfrm>
            <a:off x="751131" y="1259378"/>
            <a:ext cx="10988298" cy="2743200"/>
          </a:xfrm>
          <a:prstGeom prst="rect">
            <a:avLst/>
          </a:prstGeom>
        </p:spPr>
      </p:pic>
      <p:sp>
        <p:nvSpPr>
          <p:cNvPr id="9" name="pole tekstowe 8">
            <a:extLst>
              <a:ext uri="{FF2B5EF4-FFF2-40B4-BE49-F238E27FC236}">
                <a16:creationId xmlns:a16="http://schemas.microsoft.com/office/drawing/2014/main" id="{5FD1482A-5DC5-B1FB-9C15-349A4407BB26}"/>
              </a:ext>
            </a:extLst>
          </p:cNvPr>
          <p:cNvSpPr txBox="1"/>
          <p:nvPr/>
        </p:nvSpPr>
        <p:spPr>
          <a:xfrm>
            <a:off x="946697" y="445945"/>
            <a:ext cx="9586393" cy="646331"/>
          </a:xfrm>
          <a:prstGeom prst="rect">
            <a:avLst/>
          </a:prstGeom>
          <a:noFill/>
        </p:spPr>
        <p:txBody>
          <a:bodyPr wrap="square">
            <a:spAutoFit/>
          </a:bodyPr>
          <a:lstStyle/>
          <a:p>
            <a:r>
              <a:rPr lang="pl-PL" b="0" i="0">
                <a:solidFill>
                  <a:srgbClr val="242424"/>
                </a:solidFill>
                <a:effectLst/>
                <a:latin typeface="source-serif-pro"/>
              </a:rPr>
              <a:t>Porównamy sprzedaż dwóch kategorii w tym samym okresie. Oznacza to połączenie dwóch ramek danych w jedną i wykreślenie szeregów czasowych tych dwóch kategorii na jednym wykresie.</a:t>
            </a:r>
            <a:endParaRPr lang="en-GB"/>
          </a:p>
        </p:txBody>
      </p:sp>
      <p:pic>
        <p:nvPicPr>
          <p:cNvPr id="6" name="Obraz 5">
            <a:extLst>
              <a:ext uri="{FF2B5EF4-FFF2-40B4-BE49-F238E27FC236}">
                <a16:creationId xmlns:a16="http://schemas.microsoft.com/office/drawing/2014/main" id="{349EA9BD-3BE5-34D3-C842-F041B5D09A88}"/>
              </a:ext>
            </a:extLst>
          </p:cNvPr>
          <p:cNvPicPr>
            <a:picLocks noChangeAspect="1"/>
          </p:cNvPicPr>
          <p:nvPr/>
        </p:nvPicPr>
        <p:blipFill>
          <a:blip r:embed="rId3"/>
          <a:stretch>
            <a:fillRect/>
          </a:stretch>
        </p:blipFill>
        <p:spPr>
          <a:xfrm>
            <a:off x="751131" y="4496051"/>
            <a:ext cx="2266950" cy="485775"/>
          </a:xfrm>
          <a:prstGeom prst="rect">
            <a:avLst/>
          </a:prstGeom>
        </p:spPr>
      </p:pic>
      <p:pic>
        <p:nvPicPr>
          <p:cNvPr id="8" name="Obraz 7">
            <a:extLst>
              <a:ext uri="{FF2B5EF4-FFF2-40B4-BE49-F238E27FC236}">
                <a16:creationId xmlns:a16="http://schemas.microsoft.com/office/drawing/2014/main" id="{F330FAED-067A-2136-3943-25BAEE48D6BB}"/>
              </a:ext>
            </a:extLst>
          </p:cNvPr>
          <p:cNvPicPr>
            <a:picLocks noChangeAspect="1"/>
          </p:cNvPicPr>
          <p:nvPr/>
        </p:nvPicPr>
        <p:blipFill>
          <a:blip r:embed="rId4"/>
          <a:stretch>
            <a:fillRect/>
          </a:stretch>
        </p:blipFill>
        <p:spPr>
          <a:xfrm>
            <a:off x="946697" y="5475299"/>
            <a:ext cx="1724025" cy="476250"/>
          </a:xfrm>
          <a:prstGeom prst="rect">
            <a:avLst/>
          </a:prstGeom>
        </p:spPr>
      </p:pic>
      <p:sp>
        <p:nvSpPr>
          <p:cNvPr id="5" name="Prostokąt 4">
            <a:extLst>
              <a:ext uri="{FF2B5EF4-FFF2-40B4-BE49-F238E27FC236}">
                <a16:creationId xmlns:a16="http://schemas.microsoft.com/office/drawing/2014/main" id="{E1889A3F-5F50-750C-45C4-516BBB55CB4B}"/>
              </a:ext>
            </a:extLst>
          </p:cNvPr>
          <p:cNvSpPr/>
          <p:nvPr/>
        </p:nvSpPr>
        <p:spPr>
          <a:xfrm>
            <a:off x="359213" y="2460692"/>
            <a:ext cx="494126" cy="2281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Prostokąt 10">
            <a:extLst>
              <a:ext uri="{FF2B5EF4-FFF2-40B4-BE49-F238E27FC236}">
                <a16:creationId xmlns:a16="http://schemas.microsoft.com/office/drawing/2014/main" id="{931E130C-5C27-FABE-2C14-4C46631F82CF}"/>
              </a:ext>
            </a:extLst>
          </p:cNvPr>
          <p:cNvSpPr/>
          <p:nvPr/>
        </p:nvSpPr>
        <p:spPr>
          <a:xfrm>
            <a:off x="11338661" y="2538571"/>
            <a:ext cx="494126" cy="2281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60394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9D582EDC-D116-1C1E-4C5C-61D72349FEA2}"/>
              </a:ext>
            </a:extLst>
          </p:cNvPr>
          <p:cNvSpPr txBox="1"/>
          <p:nvPr/>
        </p:nvSpPr>
        <p:spPr>
          <a:xfrm>
            <a:off x="1616826" y="372425"/>
            <a:ext cx="9854738" cy="923330"/>
          </a:xfrm>
          <a:prstGeom prst="rect">
            <a:avLst/>
          </a:prstGeom>
          <a:noFill/>
        </p:spPr>
        <p:txBody>
          <a:bodyPr wrap="square">
            <a:spAutoFit/>
          </a:bodyPr>
          <a:lstStyle/>
          <a:p>
            <a:pPr algn="l"/>
            <a:r>
              <a:rPr lang="en-GB" b="1" i="0">
                <a:effectLst/>
                <a:latin typeface="system-ui"/>
              </a:rPr>
              <a:t>Data exploration</a:t>
            </a:r>
          </a:p>
          <a:p>
            <a:pPr algn="l"/>
            <a:r>
              <a:rPr lang="en-GB" b="0" i="0">
                <a:effectLst/>
                <a:latin typeface="system-ui"/>
              </a:rPr>
              <a:t>We are going to compare two categories' sales in the same time period. This means combine two data frames into one and plot these two categories' time series into one plot.</a:t>
            </a:r>
          </a:p>
        </p:txBody>
      </p:sp>
      <p:pic>
        <p:nvPicPr>
          <p:cNvPr id="5" name="Obraz 4">
            <a:extLst>
              <a:ext uri="{FF2B5EF4-FFF2-40B4-BE49-F238E27FC236}">
                <a16:creationId xmlns:a16="http://schemas.microsoft.com/office/drawing/2014/main" id="{CF33CC29-6874-AD5D-4D0E-457B0410154E}"/>
              </a:ext>
            </a:extLst>
          </p:cNvPr>
          <p:cNvPicPr>
            <a:picLocks noChangeAspect="1"/>
          </p:cNvPicPr>
          <p:nvPr/>
        </p:nvPicPr>
        <p:blipFill>
          <a:blip r:embed="rId2"/>
          <a:stretch>
            <a:fillRect/>
          </a:stretch>
        </p:blipFill>
        <p:spPr>
          <a:xfrm>
            <a:off x="2033587" y="2100262"/>
            <a:ext cx="8421070" cy="2754371"/>
          </a:xfrm>
          <a:prstGeom prst="rect">
            <a:avLst/>
          </a:prstGeom>
        </p:spPr>
      </p:pic>
      <p:sp>
        <p:nvSpPr>
          <p:cNvPr id="6" name="pole tekstowe 5">
            <a:extLst>
              <a:ext uri="{FF2B5EF4-FFF2-40B4-BE49-F238E27FC236}">
                <a16:creationId xmlns:a16="http://schemas.microsoft.com/office/drawing/2014/main" id="{60311C78-872F-17C5-2F0C-E9565B6B4FDA}"/>
              </a:ext>
            </a:extLst>
          </p:cNvPr>
          <p:cNvSpPr txBox="1"/>
          <p:nvPr/>
        </p:nvSpPr>
        <p:spPr>
          <a:xfrm>
            <a:off x="10085111" y="4231918"/>
            <a:ext cx="465513" cy="276999"/>
          </a:xfrm>
          <a:prstGeom prst="rect">
            <a:avLst/>
          </a:prstGeom>
          <a:noFill/>
        </p:spPr>
        <p:txBody>
          <a:bodyPr wrap="square" rtlCol="0">
            <a:spAutoFit/>
          </a:bodyPr>
          <a:lstStyle/>
          <a:p>
            <a:r>
              <a:rPr lang="pl-PL" sz="1200" err="1">
                <a:solidFill>
                  <a:schemeClr val="accent6">
                    <a:lumMod val="75000"/>
                  </a:schemeClr>
                </a:solidFill>
              </a:rPr>
              <a:t>ue</a:t>
            </a:r>
            <a:r>
              <a:rPr lang="pl-PL" sz="1200">
                <a:solidFill>
                  <a:schemeClr val="accent6">
                    <a:lumMod val="75000"/>
                  </a:schemeClr>
                </a:solidFill>
              </a:rPr>
              <a:t>)</a:t>
            </a:r>
            <a:endParaRPr lang="en-GB" sz="1200">
              <a:solidFill>
                <a:schemeClr val="accent6">
                  <a:lumMod val="75000"/>
                </a:schemeClr>
              </a:solidFill>
            </a:endParaRPr>
          </a:p>
        </p:txBody>
      </p:sp>
      <p:pic>
        <p:nvPicPr>
          <p:cNvPr id="8" name="Obraz 7">
            <a:extLst>
              <a:ext uri="{FF2B5EF4-FFF2-40B4-BE49-F238E27FC236}">
                <a16:creationId xmlns:a16="http://schemas.microsoft.com/office/drawing/2014/main" id="{BC1019BD-DD80-5049-7005-830D98F827D8}"/>
              </a:ext>
            </a:extLst>
          </p:cNvPr>
          <p:cNvPicPr>
            <a:picLocks noChangeAspect="1"/>
          </p:cNvPicPr>
          <p:nvPr/>
        </p:nvPicPr>
        <p:blipFill>
          <a:blip r:embed="rId3"/>
          <a:stretch>
            <a:fillRect/>
          </a:stretch>
        </p:blipFill>
        <p:spPr>
          <a:xfrm>
            <a:off x="2341286" y="5259448"/>
            <a:ext cx="7743825" cy="1381125"/>
          </a:xfrm>
          <a:prstGeom prst="rect">
            <a:avLst/>
          </a:prstGeom>
        </p:spPr>
      </p:pic>
      <p:sp>
        <p:nvSpPr>
          <p:cNvPr id="10" name="pole tekstowe 9">
            <a:extLst>
              <a:ext uri="{FF2B5EF4-FFF2-40B4-BE49-F238E27FC236}">
                <a16:creationId xmlns:a16="http://schemas.microsoft.com/office/drawing/2014/main" id="{5EA8110C-C39C-C2E2-F4D2-BDCB5EB40530}"/>
              </a:ext>
            </a:extLst>
          </p:cNvPr>
          <p:cNvSpPr txBox="1"/>
          <p:nvPr/>
        </p:nvSpPr>
        <p:spPr>
          <a:xfrm>
            <a:off x="9899515" y="5950010"/>
            <a:ext cx="371192" cy="276999"/>
          </a:xfrm>
          <a:prstGeom prst="rect">
            <a:avLst/>
          </a:prstGeom>
          <a:noFill/>
        </p:spPr>
        <p:txBody>
          <a:bodyPr wrap="square" rtlCol="0">
            <a:spAutoFit/>
          </a:bodyPr>
          <a:lstStyle/>
          <a:p>
            <a:r>
              <a:rPr lang="pl-PL" sz="1200">
                <a:solidFill>
                  <a:srgbClr val="C00000"/>
                </a:solidFill>
              </a:rPr>
              <a:t>s</a:t>
            </a:r>
            <a:r>
              <a:rPr lang="pl-PL" sz="1200"/>
              <a:t>)</a:t>
            </a:r>
            <a:endParaRPr lang="en-GB" sz="1200"/>
          </a:p>
        </p:txBody>
      </p:sp>
    </p:spTree>
    <p:extLst>
      <p:ext uri="{BB962C8B-B14F-4D97-AF65-F5344CB8AC3E}">
        <p14:creationId xmlns:p14="http://schemas.microsoft.com/office/powerpoint/2010/main" val="643303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0F48C21D-8D39-B14E-F979-4E8791AA6FDF}"/>
              </a:ext>
            </a:extLst>
          </p:cNvPr>
          <p:cNvSpPr txBox="1"/>
          <p:nvPr/>
        </p:nvSpPr>
        <p:spPr>
          <a:xfrm>
            <a:off x="896293" y="270890"/>
            <a:ext cx="10130827" cy="1754326"/>
          </a:xfrm>
          <a:prstGeom prst="rect">
            <a:avLst/>
          </a:prstGeom>
          <a:noFill/>
        </p:spPr>
        <p:txBody>
          <a:bodyPr wrap="square">
            <a:spAutoFit/>
          </a:bodyPr>
          <a:lstStyle/>
          <a:p>
            <a:r>
              <a:rPr lang="pl-PL" b="0" i="0">
                <a:solidFill>
                  <a:srgbClr val="242424"/>
                </a:solidFill>
                <a:effectLst/>
                <a:latin typeface="source-serif-pro"/>
              </a:rPr>
              <a:t>Obserwujemy, że sprzedaż mebli i artykułów biurowych ma podobny sezonowy wzór. Początek roku to okres poza sezonem dla obu kategorii. Wydaje się, że lato jest również spokojne dla artykułów biurowych. Ponadto średnia dzienna sprzedaż mebli jest wyższa niż artykułów biurowych w większości miesięcy. Jest to zrozumiałe, ponieważ wartość mebli powinna być znacznie wyższa niż artykułów biurowych. Czasami artykuły biurowe przewyższały meble w średniej dziennej sprzedaży. Dowiedzmy się, kiedy po raz pierwszy sprzedaż artykułów biurowych przewyższyła sprzedaż mebli.</a:t>
            </a:r>
            <a:endParaRPr lang="en-GB"/>
          </a:p>
        </p:txBody>
      </p:sp>
      <p:sp>
        <p:nvSpPr>
          <p:cNvPr id="2" name="Prostokąt 1">
            <a:extLst>
              <a:ext uri="{FF2B5EF4-FFF2-40B4-BE49-F238E27FC236}">
                <a16:creationId xmlns:a16="http://schemas.microsoft.com/office/drawing/2014/main" id="{6E35F132-A97E-2129-D5B2-199251700FD6}"/>
              </a:ext>
            </a:extLst>
          </p:cNvPr>
          <p:cNvSpPr/>
          <p:nvPr/>
        </p:nvSpPr>
        <p:spPr>
          <a:xfrm>
            <a:off x="764771" y="2909455"/>
            <a:ext cx="299258" cy="1330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Obraz 9">
            <a:extLst>
              <a:ext uri="{FF2B5EF4-FFF2-40B4-BE49-F238E27FC236}">
                <a16:creationId xmlns:a16="http://schemas.microsoft.com/office/drawing/2014/main" id="{2BC2A9FB-40B2-82F3-D3D0-F5DFF95983B3}"/>
              </a:ext>
            </a:extLst>
          </p:cNvPr>
          <p:cNvPicPr>
            <a:picLocks noChangeAspect="1"/>
          </p:cNvPicPr>
          <p:nvPr/>
        </p:nvPicPr>
        <p:blipFill>
          <a:blip r:embed="rId2"/>
          <a:stretch>
            <a:fillRect/>
          </a:stretch>
        </p:blipFill>
        <p:spPr>
          <a:xfrm>
            <a:off x="241380" y="2230282"/>
            <a:ext cx="11709239" cy="1145858"/>
          </a:xfrm>
          <a:prstGeom prst="rect">
            <a:avLst/>
          </a:prstGeom>
        </p:spPr>
      </p:pic>
    </p:spTree>
    <p:extLst>
      <p:ext uri="{BB962C8B-B14F-4D97-AF65-F5344CB8AC3E}">
        <p14:creationId xmlns:p14="http://schemas.microsoft.com/office/powerpoint/2010/main" val="472146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6E6DA823-E1E6-A0BB-3FAC-ABE1076DA0B3}"/>
              </a:ext>
            </a:extLst>
          </p:cNvPr>
          <p:cNvSpPr txBox="1"/>
          <p:nvPr/>
        </p:nvSpPr>
        <p:spPr>
          <a:xfrm>
            <a:off x="950614" y="269607"/>
            <a:ext cx="10031240" cy="2205091"/>
          </a:xfrm>
          <a:prstGeom prst="rect">
            <a:avLst/>
          </a:prstGeom>
          <a:noFill/>
        </p:spPr>
        <p:txBody>
          <a:bodyPr wrap="square">
            <a:spAutoFit/>
          </a:bodyPr>
          <a:lstStyle/>
          <a:p>
            <a:pPr algn="l">
              <a:lnSpc>
                <a:spcPts val="2250"/>
              </a:lnSpc>
            </a:pPr>
            <a:r>
              <a:rPr lang="pl-PL" b="1" i="0">
                <a:solidFill>
                  <a:srgbClr val="C00000"/>
                </a:solidFill>
                <a:effectLst/>
                <a:latin typeface="sohne"/>
              </a:rPr>
              <a:t>Modelowanie szeregów czasowych za pomocą </a:t>
            </a:r>
            <a:r>
              <a:rPr lang="pl-PL" b="1" i="0" err="1">
                <a:solidFill>
                  <a:srgbClr val="C00000"/>
                </a:solidFill>
                <a:effectLst/>
                <a:latin typeface="sohne"/>
              </a:rPr>
              <a:t>Prophet</a:t>
            </a:r>
            <a:endParaRPr lang="pl-PL" b="1" i="0">
              <a:solidFill>
                <a:srgbClr val="C00000"/>
              </a:solidFill>
              <a:effectLst/>
              <a:latin typeface="sohne"/>
            </a:endParaRPr>
          </a:p>
          <a:p>
            <a:pPr algn="l">
              <a:lnSpc>
                <a:spcPts val="2250"/>
              </a:lnSpc>
            </a:pPr>
            <a:endParaRPr lang="pl-PL" b="1" i="0">
              <a:solidFill>
                <a:srgbClr val="242424"/>
              </a:solidFill>
              <a:effectLst/>
              <a:latin typeface="sohne"/>
            </a:endParaRPr>
          </a:p>
          <a:p>
            <a:pPr algn="l">
              <a:lnSpc>
                <a:spcPts val="2400"/>
              </a:lnSpc>
            </a:pPr>
            <a:r>
              <a:rPr lang="pl-PL" b="0" i="0">
                <a:solidFill>
                  <a:srgbClr val="242424"/>
                </a:solidFill>
                <a:effectLst/>
                <a:latin typeface="source-serif-pro"/>
              </a:rPr>
              <a:t>Wydane przez Facebooka w 2017 r. narzędzie do prognozowania </a:t>
            </a:r>
            <a:r>
              <a:rPr lang="pl-PL" b="0" i="0" u="sng" err="1">
                <a:solidFill>
                  <a:srgbClr val="242424"/>
                </a:solidFill>
                <a:effectLst/>
                <a:latin typeface="source-serif-pro"/>
                <a:hlinkClick r:id="rId2"/>
              </a:rPr>
              <a:t>Prophet</a:t>
            </a:r>
            <a:r>
              <a:rPr lang="pl-PL" b="0" i="0">
                <a:solidFill>
                  <a:srgbClr val="242424"/>
                </a:solidFill>
                <a:effectLst/>
                <a:latin typeface="source-serif-pro"/>
              </a:rPr>
              <a:t> zostało zaprojektowane do analizowania szeregów czasowych, które wyświetlają wzorce w różnych skalach czasowych, takich jak roczna, tygodniowa i dzienna. Posiada również zaawansowane możliwości modelowania wpływu świąt na szereg czasowy i implementacji niestandardowych punktów zmian. Dlatego używamy </a:t>
            </a:r>
            <a:r>
              <a:rPr lang="pl-PL" b="0" i="0" err="1">
                <a:solidFill>
                  <a:srgbClr val="242424"/>
                </a:solidFill>
                <a:effectLst/>
                <a:latin typeface="source-serif-pro"/>
              </a:rPr>
              <a:t>Prophet</a:t>
            </a:r>
            <a:r>
              <a:rPr lang="pl-PL" b="0" i="0">
                <a:solidFill>
                  <a:srgbClr val="242424"/>
                </a:solidFill>
                <a:effectLst/>
                <a:latin typeface="source-serif-pro"/>
              </a:rPr>
              <a:t>, aby uruchomić model.</a:t>
            </a:r>
          </a:p>
        </p:txBody>
      </p:sp>
      <p:pic>
        <p:nvPicPr>
          <p:cNvPr id="4" name="Obraz 3">
            <a:extLst>
              <a:ext uri="{FF2B5EF4-FFF2-40B4-BE49-F238E27FC236}">
                <a16:creationId xmlns:a16="http://schemas.microsoft.com/office/drawing/2014/main" id="{A1664741-DF3B-771B-F12A-E7BBDD7C055B}"/>
              </a:ext>
            </a:extLst>
          </p:cNvPr>
          <p:cNvPicPr>
            <a:picLocks noChangeAspect="1"/>
          </p:cNvPicPr>
          <p:nvPr/>
        </p:nvPicPr>
        <p:blipFill>
          <a:blip r:embed="rId3"/>
          <a:stretch>
            <a:fillRect/>
          </a:stretch>
        </p:blipFill>
        <p:spPr>
          <a:xfrm>
            <a:off x="950614" y="2713759"/>
            <a:ext cx="7210425" cy="2095500"/>
          </a:xfrm>
          <a:prstGeom prst="rect">
            <a:avLst/>
          </a:prstGeom>
        </p:spPr>
      </p:pic>
      <p:sp>
        <p:nvSpPr>
          <p:cNvPr id="2" name="Prostokąt 1">
            <a:extLst>
              <a:ext uri="{FF2B5EF4-FFF2-40B4-BE49-F238E27FC236}">
                <a16:creationId xmlns:a16="http://schemas.microsoft.com/office/drawing/2014/main" id="{2D0C0BC5-1ABA-51E8-AA1B-2C72B62794E3}"/>
              </a:ext>
            </a:extLst>
          </p:cNvPr>
          <p:cNvSpPr/>
          <p:nvPr/>
        </p:nvSpPr>
        <p:spPr>
          <a:xfrm>
            <a:off x="1511929" y="2960483"/>
            <a:ext cx="190122" cy="1810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04937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12FF9725-07F8-2295-3CF6-731F087BF54B}"/>
              </a:ext>
            </a:extLst>
          </p:cNvPr>
          <p:cNvPicPr>
            <a:picLocks noChangeAspect="1"/>
          </p:cNvPicPr>
          <p:nvPr/>
        </p:nvPicPr>
        <p:blipFill>
          <a:blip r:embed="rId2"/>
          <a:stretch>
            <a:fillRect/>
          </a:stretch>
        </p:blipFill>
        <p:spPr>
          <a:xfrm>
            <a:off x="1521315" y="528118"/>
            <a:ext cx="7553325" cy="2543175"/>
          </a:xfrm>
          <a:prstGeom prst="rect">
            <a:avLst/>
          </a:prstGeom>
        </p:spPr>
      </p:pic>
      <p:pic>
        <p:nvPicPr>
          <p:cNvPr id="5" name="Obraz 4">
            <a:extLst>
              <a:ext uri="{FF2B5EF4-FFF2-40B4-BE49-F238E27FC236}">
                <a16:creationId xmlns:a16="http://schemas.microsoft.com/office/drawing/2014/main" id="{E1560386-81B7-7E21-AF1F-062F24018F57}"/>
              </a:ext>
            </a:extLst>
          </p:cNvPr>
          <p:cNvPicPr>
            <a:picLocks noChangeAspect="1"/>
          </p:cNvPicPr>
          <p:nvPr/>
        </p:nvPicPr>
        <p:blipFill>
          <a:blip r:embed="rId3"/>
          <a:stretch>
            <a:fillRect/>
          </a:stretch>
        </p:blipFill>
        <p:spPr>
          <a:xfrm>
            <a:off x="1829059" y="4088043"/>
            <a:ext cx="6505575" cy="942975"/>
          </a:xfrm>
          <a:prstGeom prst="rect">
            <a:avLst/>
          </a:prstGeom>
        </p:spPr>
      </p:pic>
    </p:spTree>
    <p:extLst>
      <p:ext uri="{BB962C8B-B14F-4D97-AF65-F5344CB8AC3E}">
        <p14:creationId xmlns:p14="http://schemas.microsoft.com/office/powerpoint/2010/main" val="2514805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06242CCF-F124-9E5D-90F6-47D9409DBB09}"/>
              </a:ext>
            </a:extLst>
          </p:cNvPr>
          <p:cNvSpPr txBox="1"/>
          <p:nvPr/>
        </p:nvSpPr>
        <p:spPr>
          <a:xfrm>
            <a:off x="1816331" y="458300"/>
            <a:ext cx="8275320" cy="1281761"/>
          </a:xfrm>
          <a:prstGeom prst="rect">
            <a:avLst/>
          </a:prstGeom>
          <a:noFill/>
        </p:spPr>
        <p:txBody>
          <a:bodyPr wrap="square">
            <a:spAutoFit/>
          </a:bodyPr>
          <a:lstStyle/>
          <a:p>
            <a:pPr algn="l">
              <a:lnSpc>
                <a:spcPts val="2250"/>
              </a:lnSpc>
            </a:pPr>
            <a:r>
              <a:rPr lang="pl-PL" b="1" i="0">
                <a:solidFill>
                  <a:srgbClr val="C00000"/>
                </a:solidFill>
                <a:effectLst/>
                <a:latin typeface="sohne"/>
              </a:rPr>
              <a:t>Porównanie prognoz</a:t>
            </a:r>
          </a:p>
          <a:p>
            <a:pPr algn="l">
              <a:lnSpc>
                <a:spcPts val="2250"/>
              </a:lnSpc>
            </a:pPr>
            <a:endParaRPr lang="pl-PL" b="1" i="0">
              <a:solidFill>
                <a:srgbClr val="242424"/>
              </a:solidFill>
              <a:effectLst/>
              <a:latin typeface="sohne"/>
            </a:endParaRPr>
          </a:p>
          <a:p>
            <a:pPr algn="l">
              <a:lnSpc>
                <a:spcPts val="2400"/>
              </a:lnSpc>
            </a:pPr>
            <a:r>
              <a:rPr lang="pl-PL" b="0" i="0">
                <a:solidFill>
                  <a:srgbClr val="242424"/>
                </a:solidFill>
                <a:effectLst/>
                <a:latin typeface="source-serif-pro"/>
              </a:rPr>
              <a:t>Mamy już prognozy na trzy lata dla tych dwóch kategorii w przyszłość. Teraz połączymy je, aby porównać ich przyszłe prognozy.</a:t>
            </a:r>
          </a:p>
        </p:txBody>
      </p:sp>
      <p:pic>
        <p:nvPicPr>
          <p:cNvPr id="5" name="Obraz 4">
            <a:extLst>
              <a:ext uri="{FF2B5EF4-FFF2-40B4-BE49-F238E27FC236}">
                <a16:creationId xmlns:a16="http://schemas.microsoft.com/office/drawing/2014/main" id="{6CE40706-7781-C69B-8EB7-12CF68F78B55}"/>
              </a:ext>
            </a:extLst>
          </p:cNvPr>
          <p:cNvPicPr>
            <a:picLocks noChangeAspect="1"/>
          </p:cNvPicPr>
          <p:nvPr/>
        </p:nvPicPr>
        <p:blipFill>
          <a:blip r:embed="rId2"/>
          <a:stretch>
            <a:fillRect/>
          </a:stretch>
        </p:blipFill>
        <p:spPr>
          <a:xfrm>
            <a:off x="1816331" y="2101994"/>
            <a:ext cx="6524625" cy="3152775"/>
          </a:xfrm>
          <a:prstGeom prst="rect">
            <a:avLst/>
          </a:prstGeom>
        </p:spPr>
      </p:pic>
    </p:spTree>
    <p:extLst>
      <p:ext uri="{BB962C8B-B14F-4D97-AF65-F5344CB8AC3E}">
        <p14:creationId xmlns:p14="http://schemas.microsoft.com/office/powerpoint/2010/main" val="1347013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510A9A9B-6EE5-C6EF-6AB4-956CB94C989F}"/>
              </a:ext>
            </a:extLst>
          </p:cNvPr>
          <p:cNvSpPr txBox="1"/>
          <p:nvPr/>
        </p:nvSpPr>
        <p:spPr>
          <a:xfrm>
            <a:off x="3778135" y="569228"/>
            <a:ext cx="6093228" cy="374461"/>
          </a:xfrm>
          <a:prstGeom prst="rect">
            <a:avLst/>
          </a:prstGeom>
          <a:noFill/>
        </p:spPr>
        <p:txBody>
          <a:bodyPr wrap="square">
            <a:spAutoFit/>
          </a:bodyPr>
          <a:lstStyle/>
          <a:p>
            <a:pPr algn="l">
              <a:lnSpc>
                <a:spcPts val="2250"/>
              </a:lnSpc>
            </a:pPr>
            <a:r>
              <a:rPr lang="en-GB" b="1" i="0" err="1">
                <a:solidFill>
                  <a:srgbClr val="C00000"/>
                </a:solidFill>
                <a:effectLst/>
                <a:latin typeface="sohne"/>
              </a:rPr>
              <a:t>Wizualizacja</a:t>
            </a:r>
            <a:r>
              <a:rPr lang="en-GB" b="1" i="0">
                <a:solidFill>
                  <a:srgbClr val="C00000"/>
                </a:solidFill>
                <a:effectLst/>
                <a:latin typeface="sohne"/>
              </a:rPr>
              <a:t> </a:t>
            </a:r>
            <a:r>
              <a:rPr lang="en-GB" b="1" i="0" err="1">
                <a:solidFill>
                  <a:srgbClr val="C00000"/>
                </a:solidFill>
                <a:effectLst/>
                <a:latin typeface="sohne"/>
              </a:rPr>
              <a:t>trendów</a:t>
            </a:r>
            <a:r>
              <a:rPr lang="en-GB" b="1" i="0">
                <a:solidFill>
                  <a:srgbClr val="C00000"/>
                </a:solidFill>
                <a:effectLst/>
                <a:latin typeface="sohne"/>
              </a:rPr>
              <a:t> </a:t>
            </a:r>
            <a:r>
              <a:rPr lang="en-GB" b="1" i="0" err="1">
                <a:solidFill>
                  <a:srgbClr val="C00000"/>
                </a:solidFill>
                <a:effectLst/>
                <a:latin typeface="sohne"/>
              </a:rPr>
              <a:t>i</a:t>
            </a:r>
            <a:r>
              <a:rPr lang="en-GB" b="1" i="0">
                <a:solidFill>
                  <a:srgbClr val="C00000"/>
                </a:solidFill>
                <a:effectLst/>
                <a:latin typeface="sohne"/>
              </a:rPr>
              <a:t> </a:t>
            </a:r>
            <a:r>
              <a:rPr lang="en-GB" b="1" i="0" err="1">
                <a:solidFill>
                  <a:srgbClr val="C00000"/>
                </a:solidFill>
                <a:effectLst/>
                <a:latin typeface="sohne"/>
              </a:rPr>
              <a:t>prognoz</a:t>
            </a:r>
            <a:endParaRPr lang="en-GB" b="1" i="0">
              <a:solidFill>
                <a:srgbClr val="C00000"/>
              </a:solidFill>
              <a:effectLst/>
              <a:latin typeface="sohne"/>
            </a:endParaRPr>
          </a:p>
        </p:txBody>
      </p:sp>
      <p:pic>
        <p:nvPicPr>
          <p:cNvPr id="5" name="Obraz 4">
            <a:extLst>
              <a:ext uri="{FF2B5EF4-FFF2-40B4-BE49-F238E27FC236}">
                <a16:creationId xmlns:a16="http://schemas.microsoft.com/office/drawing/2014/main" id="{D32B1274-F810-FA2C-302B-C4A7C22A0A5F}"/>
              </a:ext>
            </a:extLst>
          </p:cNvPr>
          <p:cNvPicPr>
            <a:picLocks noChangeAspect="1"/>
          </p:cNvPicPr>
          <p:nvPr/>
        </p:nvPicPr>
        <p:blipFill>
          <a:blip r:embed="rId2"/>
          <a:stretch>
            <a:fillRect/>
          </a:stretch>
        </p:blipFill>
        <p:spPr>
          <a:xfrm>
            <a:off x="1635355" y="1247082"/>
            <a:ext cx="5695950" cy="1238250"/>
          </a:xfrm>
          <a:prstGeom prst="rect">
            <a:avLst/>
          </a:prstGeom>
        </p:spPr>
      </p:pic>
      <p:pic>
        <p:nvPicPr>
          <p:cNvPr id="7" name="Obraz 6">
            <a:extLst>
              <a:ext uri="{FF2B5EF4-FFF2-40B4-BE49-F238E27FC236}">
                <a16:creationId xmlns:a16="http://schemas.microsoft.com/office/drawing/2014/main" id="{7DB908BF-A880-ADE4-E87A-54597510E632}"/>
              </a:ext>
            </a:extLst>
          </p:cNvPr>
          <p:cNvPicPr>
            <a:picLocks noChangeAspect="1"/>
          </p:cNvPicPr>
          <p:nvPr/>
        </p:nvPicPr>
        <p:blipFill>
          <a:blip r:embed="rId3"/>
          <a:stretch>
            <a:fillRect/>
          </a:stretch>
        </p:blipFill>
        <p:spPr>
          <a:xfrm>
            <a:off x="1788968" y="3739256"/>
            <a:ext cx="6286500" cy="1266825"/>
          </a:xfrm>
          <a:prstGeom prst="rect">
            <a:avLst/>
          </a:prstGeom>
        </p:spPr>
      </p:pic>
    </p:spTree>
    <p:extLst>
      <p:ext uri="{BB962C8B-B14F-4D97-AF65-F5344CB8AC3E}">
        <p14:creationId xmlns:p14="http://schemas.microsoft.com/office/powerpoint/2010/main" val="2316379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ole tekstowe 2">
            <a:extLst>
              <a:ext uri="{FF2B5EF4-FFF2-40B4-BE49-F238E27FC236}">
                <a16:creationId xmlns:a16="http://schemas.microsoft.com/office/drawing/2014/main" id="{0889665D-5568-5B4F-3AD1-D4F264B2DE7B}"/>
              </a:ext>
            </a:extLst>
          </p:cNvPr>
          <p:cNvSpPr txBox="1"/>
          <p:nvPr/>
        </p:nvSpPr>
        <p:spPr>
          <a:xfrm>
            <a:off x="1234441" y="412682"/>
            <a:ext cx="9954490" cy="973985"/>
          </a:xfrm>
          <a:prstGeom prst="rect">
            <a:avLst/>
          </a:prstGeom>
          <a:noFill/>
        </p:spPr>
        <p:txBody>
          <a:bodyPr wrap="square">
            <a:spAutoFit/>
          </a:bodyPr>
          <a:lstStyle/>
          <a:p>
            <a:pPr algn="l">
              <a:lnSpc>
                <a:spcPts val="2250"/>
              </a:lnSpc>
            </a:pPr>
            <a:r>
              <a:rPr lang="pl-PL" b="1" i="0">
                <a:solidFill>
                  <a:srgbClr val="C00000"/>
                </a:solidFill>
                <a:effectLst/>
                <a:latin typeface="sohne"/>
              </a:rPr>
              <a:t>Trendy i wzorce</a:t>
            </a:r>
          </a:p>
          <a:p>
            <a:pPr algn="l">
              <a:lnSpc>
                <a:spcPts val="2250"/>
              </a:lnSpc>
            </a:pPr>
            <a:endParaRPr lang="pl-PL" b="1" i="0">
              <a:solidFill>
                <a:srgbClr val="242424"/>
              </a:solidFill>
              <a:effectLst/>
              <a:latin typeface="sohne"/>
            </a:endParaRPr>
          </a:p>
          <a:p>
            <a:pPr algn="l">
              <a:lnSpc>
                <a:spcPts val="2400"/>
              </a:lnSpc>
            </a:pPr>
            <a:r>
              <a:rPr lang="pl-PL" b="0" i="0">
                <a:solidFill>
                  <a:srgbClr val="242424"/>
                </a:solidFill>
                <a:effectLst/>
                <a:latin typeface="source-serif-pro"/>
              </a:rPr>
              <a:t>Teraz możemy użyć modeli </a:t>
            </a:r>
            <a:r>
              <a:rPr lang="pl-PL" b="0" i="0" err="1">
                <a:solidFill>
                  <a:srgbClr val="242424"/>
                </a:solidFill>
                <a:effectLst/>
                <a:latin typeface="source-serif-pro"/>
              </a:rPr>
              <a:t>Prophet</a:t>
            </a:r>
            <a:r>
              <a:rPr lang="pl-PL" b="0" i="0">
                <a:solidFill>
                  <a:srgbClr val="242424"/>
                </a:solidFill>
                <a:effectLst/>
                <a:latin typeface="source-serif-pro"/>
              </a:rPr>
              <a:t> do zbadania różnych trendów tych dwóch kategorii w danych.</a:t>
            </a:r>
          </a:p>
        </p:txBody>
      </p:sp>
      <p:pic>
        <p:nvPicPr>
          <p:cNvPr id="5" name="Obraz 4">
            <a:extLst>
              <a:ext uri="{FF2B5EF4-FFF2-40B4-BE49-F238E27FC236}">
                <a16:creationId xmlns:a16="http://schemas.microsoft.com/office/drawing/2014/main" id="{DEE3E83A-6B50-27C5-C9FC-EC0F125B058C}"/>
              </a:ext>
            </a:extLst>
          </p:cNvPr>
          <p:cNvPicPr>
            <a:picLocks noChangeAspect="1"/>
          </p:cNvPicPr>
          <p:nvPr/>
        </p:nvPicPr>
        <p:blipFill>
          <a:blip r:embed="rId2"/>
          <a:stretch>
            <a:fillRect/>
          </a:stretch>
        </p:blipFill>
        <p:spPr>
          <a:xfrm>
            <a:off x="1400175" y="1701683"/>
            <a:ext cx="5618579" cy="592629"/>
          </a:xfrm>
          <a:prstGeom prst="rect">
            <a:avLst/>
          </a:prstGeom>
        </p:spPr>
      </p:pic>
      <p:pic>
        <p:nvPicPr>
          <p:cNvPr id="7" name="Obraz 6">
            <a:extLst>
              <a:ext uri="{FF2B5EF4-FFF2-40B4-BE49-F238E27FC236}">
                <a16:creationId xmlns:a16="http://schemas.microsoft.com/office/drawing/2014/main" id="{0A195D43-28EA-A8F3-8B51-960D53446F51}"/>
              </a:ext>
            </a:extLst>
          </p:cNvPr>
          <p:cNvPicPr>
            <a:picLocks noChangeAspect="1"/>
          </p:cNvPicPr>
          <p:nvPr/>
        </p:nvPicPr>
        <p:blipFill>
          <a:blip r:embed="rId3"/>
          <a:stretch>
            <a:fillRect/>
          </a:stretch>
        </p:blipFill>
        <p:spPr>
          <a:xfrm>
            <a:off x="1400175" y="3021504"/>
            <a:ext cx="4324350" cy="514350"/>
          </a:xfrm>
          <a:prstGeom prst="rect">
            <a:avLst/>
          </a:prstGeom>
        </p:spPr>
      </p:pic>
      <p:sp>
        <p:nvSpPr>
          <p:cNvPr id="9" name="pole tekstowe 8">
            <a:extLst>
              <a:ext uri="{FF2B5EF4-FFF2-40B4-BE49-F238E27FC236}">
                <a16:creationId xmlns:a16="http://schemas.microsoft.com/office/drawing/2014/main" id="{A7BCD141-4533-DE5A-F129-1F7D5E4E66B3}"/>
              </a:ext>
            </a:extLst>
          </p:cNvPr>
          <p:cNvSpPr txBox="1"/>
          <p:nvPr/>
        </p:nvSpPr>
        <p:spPr>
          <a:xfrm>
            <a:off x="1400175" y="4337862"/>
            <a:ext cx="9788756" cy="1922962"/>
          </a:xfrm>
          <a:prstGeom prst="rect">
            <a:avLst/>
          </a:prstGeom>
          <a:noFill/>
        </p:spPr>
        <p:txBody>
          <a:bodyPr wrap="square">
            <a:spAutoFit/>
          </a:bodyPr>
          <a:lstStyle/>
          <a:p>
            <a:pPr algn="l">
              <a:lnSpc>
                <a:spcPts val="2400"/>
              </a:lnSpc>
            </a:pPr>
            <a:r>
              <a:rPr lang="pl-PL">
                <a:solidFill>
                  <a:srgbClr val="242424"/>
                </a:solidFill>
                <a:latin typeface="source-serif-pro"/>
              </a:rPr>
              <a:t>S</a:t>
            </a:r>
            <a:r>
              <a:rPr lang="pl-PL" b="0" i="0">
                <a:solidFill>
                  <a:srgbClr val="242424"/>
                </a:solidFill>
                <a:effectLst/>
                <a:latin typeface="source-serif-pro"/>
              </a:rPr>
              <a:t>przedaż mebli i artykułów biurowych rośnie liniowo na przestrzeni czasu i będzie rosła nadal, choć wzrost sprzedaży artykułów biurowych wydaje się być nieco silniejszy.</a:t>
            </a:r>
          </a:p>
          <a:p>
            <a:pPr algn="l">
              <a:lnSpc>
                <a:spcPts val="2400"/>
              </a:lnSpc>
            </a:pPr>
            <a:endParaRPr lang="pl-PL" b="0" i="0">
              <a:solidFill>
                <a:srgbClr val="242424"/>
              </a:solidFill>
              <a:effectLst/>
              <a:latin typeface="source-serif-pro"/>
            </a:endParaRPr>
          </a:p>
          <a:p>
            <a:pPr algn="l">
              <a:lnSpc>
                <a:spcPts val="2400"/>
              </a:lnSpc>
            </a:pPr>
            <a:r>
              <a:rPr lang="pl-PL" b="0" i="0">
                <a:solidFill>
                  <a:srgbClr val="242424"/>
                </a:solidFill>
                <a:effectLst/>
                <a:latin typeface="source-serif-pro"/>
              </a:rPr>
              <a:t>Najgorszym miesiącem dla mebli jest kwiecień, najgorszym miesiącem dla artykułów biurowych jest luty. Najlepszym miesiącem dla mebli jest grudzień, a najlepszym miesiącem dla artykułów biurowych jest październik.</a:t>
            </a:r>
          </a:p>
        </p:txBody>
      </p:sp>
    </p:spTree>
    <p:extLst>
      <p:ext uri="{BB962C8B-B14F-4D97-AF65-F5344CB8AC3E}">
        <p14:creationId xmlns:p14="http://schemas.microsoft.com/office/powerpoint/2010/main" val="614537891"/>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94efa4c-2d07-4643-827b-c53d5f18f328" xsi:nil="true"/>
    <lcf76f155ced4ddcb4097134ff3c332f xmlns="ae989b61-c228-4e23-ae61-9e60e2e810f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346F4382C69AAF4891EE0A579E04F27B" ma:contentTypeVersion="10" ma:contentTypeDescription="Utwórz nowy dokument." ma:contentTypeScope="" ma:versionID="55efd16b515a58aacc08a39ea408f048">
  <xsd:schema xmlns:xsd="http://www.w3.org/2001/XMLSchema" xmlns:xs="http://www.w3.org/2001/XMLSchema" xmlns:p="http://schemas.microsoft.com/office/2006/metadata/properties" xmlns:ns2="ae989b61-c228-4e23-ae61-9e60e2e810f3" xmlns:ns3="e94efa4c-2d07-4643-827b-c53d5f18f328" targetNamespace="http://schemas.microsoft.com/office/2006/metadata/properties" ma:root="true" ma:fieldsID="86161bb239a3d55d88f234fcdae06930" ns2:_="" ns3:_="">
    <xsd:import namespace="ae989b61-c228-4e23-ae61-9e60e2e810f3"/>
    <xsd:import namespace="e94efa4c-2d07-4643-827b-c53d5f18f32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989b61-c228-4e23-ae61-9e60e2e810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Tagi obrazów" ma:readOnly="false" ma:fieldId="{5cf76f15-5ced-4ddc-b409-7134ff3c332f}" ma:taxonomyMulti="true" ma:sspId="99f285bf-9bc8-44af-a2ef-b39ca4f7dad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4efa4c-2d07-4643-827b-c53d5f18f32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b4419e2-253f-4d63-9198-f5afb3422db4}" ma:internalName="TaxCatchAll" ma:showField="CatchAllData" ma:web="e94efa4c-2d07-4643-827b-c53d5f18f32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27A2EA0-6241-4EF0-8ECD-A185D881AD50}">
  <ds:schemaRefs>
    <ds:schemaRef ds:uri="ae989b61-c228-4e23-ae61-9e60e2e810f3"/>
    <ds:schemaRef ds:uri="e94efa4c-2d07-4643-827b-c53d5f18f328"/>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1066F7E-0840-456B-B3C1-03F3CF66D405}">
  <ds:schemaRefs>
    <ds:schemaRef ds:uri="ae989b61-c228-4e23-ae61-9e60e2e810f3"/>
    <ds:schemaRef ds:uri="e94efa4c-2d07-4643-827b-c53d5f18f32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CBBC8B7-D629-47C5-99D6-48675776C9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Motyw pakietu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Marek Kruk</dc:creator>
  <cp:revision>1</cp:revision>
  <dcterms:created xsi:type="dcterms:W3CDTF">2024-12-03T21:15:28Z</dcterms:created>
  <dcterms:modified xsi:type="dcterms:W3CDTF">2026-01-21T11:41:48Z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0x010100346F4382C69AAF4891EE0A579E04F27B</vt:lpwstr>
  </property>
  <property fmtid="{D5CDD505-2E9C-101B-9397-08002B2CF9AE}" pid="3" name="MediaServiceImageTags">
    <vt:lpwstr/>
  </property>
</Properties>
</file>