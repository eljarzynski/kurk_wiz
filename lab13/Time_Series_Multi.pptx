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84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A6609A1-DCCE-4B98-7FE6-F7D72D4C2C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B33EFC7-0B0E-5823-2452-25389E4939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D16E2F2-F824-283E-6329-D3A7281BB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5C620-4339-44CB-9713-2A4433F26003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5FD25FE-DD7A-3516-A155-FC74AF2BA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B607814-87A4-7A28-FF04-99AD15758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124A7-15EF-4A1D-B2B8-F1485A2EE0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5253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5A90EF-5AA6-1664-F3C7-C7C2FC113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E52BF74-AC3F-87E6-5398-05A393094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90A6E8C-B12E-C163-8C3F-591DE82B8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5C620-4339-44CB-9713-2A4433F26003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8945A58-DA95-88EA-4F7E-D6853DB34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233645C-02D2-6E39-B184-A504D93F6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124A7-15EF-4A1D-B2B8-F1485A2EE0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3459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1D600F6-0AE9-F45B-DF5C-FC9D12394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B7029143-6D02-E1C5-0AE4-B10B8ED37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A462773-A3DF-E6BA-B39B-66C71904D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5C620-4339-44CB-9713-2A4433F26003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E802C58-F803-FB8C-340E-2F6B709C6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2FAECC2-2A3F-85C4-4205-819E45328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124A7-15EF-4A1D-B2B8-F1485A2EE0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9997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5A770A9-514D-34BE-4664-82E0A8578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3CE7E69-9ADE-C263-7AA5-D8BEFE92C9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DA4DDB64-F0C0-B044-0F6D-CEF6B7049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6B8444E7-2A52-7B46-8AA6-51B27B2E0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5C620-4339-44CB-9713-2A4433F26003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A039A721-96C9-50E7-2E1C-5CA48CC2C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6BC476E4-5B90-3933-DD7F-9480C1ACF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124A7-15EF-4A1D-B2B8-F1485A2EE0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1983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CD0D9F8-98BC-EC14-FCA8-458980D08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CE3B862D-21BF-4CED-9840-53F6A7FC16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9FF9D87B-D355-D474-ECDF-4BC6F91F52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BABA114B-E06C-6BA9-88C8-80784BB072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95CA1E28-DB4B-1618-2CDB-44A49141D5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05D28B20-D8E7-4D7A-93BE-B818BA130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5C620-4339-44CB-9713-2A4433F26003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F5830109-B81B-B334-7EC3-1E353AD64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F26C98DD-F784-171E-466C-70C433278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124A7-15EF-4A1D-B2B8-F1485A2EE0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0915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27C7433-5D9D-4946-610F-FB7492832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B7638BBA-3703-1B53-21B2-D2B3983D4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5C620-4339-44CB-9713-2A4433F26003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395D8AC3-ECDB-D9F2-6BA4-F16042A91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B54F9431-A27C-D895-D182-CBF64C6DD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124A7-15EF-4A1D-B2B8-F1485A2EE0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2554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BD7190BF-E083-4B9C-5E86-B97DFE4AC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5C620-4339-44CB-9713-2A4433F26003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3D31A0C9-71AD-E2D2-7FD4-7AF1EE55C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F4281BFE-EB6E-171A-1012-E38ECBB15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124A7-15EF-4A1D-B2B8-F1485A2EE0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7585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018E3C9-398E-B430-751A-BD030D4CE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C6AF33A-8118-2C43-AC5F-BBA7A99AA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DCF8AB09-1968-3339-77C6-F71D09E34C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A35FDD1-EB76-4962-EB83-E0437FAE8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5C620-4339-44CB-9713-2A4433F26003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C5A7B59D-827A-DFA8-A0C3-F07C480EA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D163BB7-8B73-5089-C68F-C7C3B03EE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124A7-15EF-4A1D-B2B8-F1485A2EE0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8560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C7928B5-E1E5-EE86-A68A-94E36443F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9E13EA19-BE0B-A321-C69F-E16E41D48E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829E5F5-FF30-4CBE-D162-08FBD16271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31466D81-CFE0-47CD-B479-D26BECAAF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5C620-4339-44CB-9713-2A4433F26003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171E216-4091-DFE2-1C7D-9F0DB8D66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8C887BB4-42F4-34B5-30B0-B3EB5D755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124A7-15EF-4A1D-B2B8-F1485A2EE0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9507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2E9DCF4-A4EC-564F-7770-4A12B7025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FC65103F-E502-5328-98E8-3C08994928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8D3FD94-9CE4-2133-3037-0EEA5C1BE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5C620-4339-44CB-9713-2A4433F26003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0932043-1227-A88A-A319-A9BE3BF21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BD21396-5C64-8FE5-E163-DAFFE210F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124A7-15EF-4A1D-B2B8-F1485A2EE0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9255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163E777B-C9E7-874A-080C-1595D6480D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193F70F9-190C-A96F-D0F4-5D80C9B3B0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6D41BF7-38CE-59A2-EED0-65FE3A717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5C620-4339-44CB-9713-2A4433F26003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A89CFC8-B603-C6FF-EC62-1EC971277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F927B6E-C7CF-6420-2A8B-2F1DDC2D9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124A7-15EF-4A1D-B2B8-F1485A2EE0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8085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8EC50160-65CA-954B-3A4A-2221B344F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C4E24CE-FCBC-BD4A-F98B-5C71DEE08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8B2217B-264A-4DBF-5690-26263C2282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E5C620-4339-44CB-9713-2A4433F26003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E30BB33-CA5F-13AB-B450-F411F9B45E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5AA6677-3F70-F1A8-B525-C9B96415C5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D124A7-15EF-4A1D-B2B8-F1485A2EE0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7468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0805EEBC-C813-B518-545B-BB719134D97D}"/>
              </a:ext>
            </a:extLst>
          </p:cNvPr>
          <p:cNvSpPr txBox="1"/>
          <p:nvPr/>
        </p:nvSpPr>
        <p:spPr>
          <a:xfrm>
            <a:off x="1589649" y="415389"/>
            <a:ext cx="779350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2800" b="1" i="0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Wielowymiarowe prognozowanie szeregów czasowych przy użyciu języka </a:t>
            </a:r>
            <a:r>
              <a:rPr lang="pl-PL" sz="2800" b="1" i="0" dirty="0" err="1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Python</a:t>
            </a:r>
            <a:endParaRPr lang="pl-PL" sz="2800" b="1" i="0" dirty="0"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16FEB28D-BD7D-9F89-4BBD-2BDD5CFECB37}"/>
              </a:ext>
            </a:extLst>
          </p:cNvPr>
          <p:cNvSpPr txBox="1"/>
          <p:nvPr/>
        </p:nvSpPr>
        <p:spPr>
          <a:xfrm>
            <a:off x="988254" y="1511666"/>
            <a:ext cx="9421838" cy="1732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pl-PL" b="1" i="0" dirty="0">
                <a:effectLst/>
                <a:latin typeface="Arial" panose="020B0604020202020204" pitchFamily="34" charset="0"/>
              </a:rPr>
              <a:t>Wielowymiarowe prognozowanie szeregów czasowych </a:t>
            </a:r>
            <a:r>
              <a:rPr lang="pl-PL" b="0" i="0" dirty="0">
                <a:effectLst/>
                <a:latin typeface="Arial" panose="020B0604020202020204" pitchFamily="34" charset="0"/>
              </a:rPr>
              <a:t>polega na przewidywaniu przyszłych wartości wielu zmiennych zależnych od czasu przy użyciu danych historycznych. W przeciwieństwie do </a:t>
            </a:r>
            <a:r>
              <a:rPr lang="pl-PL" b="1" i="0" dirty="0">
                <a:effectLst/>
                <a:latin typeface="Arial" panose="020B0604020202020204" pitchFamily="34" charset="0"/>
              </a:rPr>
              <a:t>jednowymiarowego prognozowania szeregów czasowych</a:t>
            </a:r>
            <a:r>
              <a:rPr lang="pl-PL" b="0" i="0" dirty="0">
                <a:effectLst/>
                <a:latin typeface="Arial" panose="020B0604020202020204" pitchFamily="34" charset="0"/>
              </a:rPr>
              <a:t> , które przewiduje pojedynczą zmienną (np. sprzedaż w czasie), prognozowanie wielowymiarowe bierze pod uwagę kilka zmiennych jednocześnie. </a:t>
            </a:r>
            <a:endParaRPr lang="en-GB" dirty="0"/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E60CE2BA-4928-C940-C7EC-9AEC5D777900}"/>
              </a:ext>
            </a:extLst>
          </p:cNvPr>
          <p:cNvSpPr txBox="1"/>
          <p:nvPr/>
        </p:nvSpPr>
        <p:spPr>
          <a:xfrm>
            <a:off x="988254" y="3613681"/>
            <a:ext cx="9703192" cy="1400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pl-PL" b="0" i="0" dirty="0">
                <a:effectLst/>
                <a:latin typeface="Arial" panose="020B0604020202020204" pitchFamily="34" charset="0"/>
              </a:rPr>
              <a:t>Prognozowanie wielowymiarowych szeregów czasowych jest preferowane, </a:t>
            </a:r>
            <a:r>
              <a:rPr lang="pl-PL" b="1" i="0" dirty="0">
                <a:effectLst/>
                <a:latin typeface="Arial" panose="020B0604020202020204" pitchFamily="34" charset="0"/>
              </a:rPr>
              <a:t>gdy zmienne mogą mieć zależności lub interakcje ze sobą</a:t>
            </a:r>
            <a:r>
              <a:rPr lang="pl-PL" b="0" i="0" dirty="0">
                <a:effectLst/>
                <a:latin typeface="Arial" panose="020B0604020202020204" pitchFamily="34" charset="0"/>
              </a:rPr>
              <a:t>. Celem jest uchwycenie tych współzależności, </a:t>
            </a:r>
            <a:r>
              <a:rPr lang="pl-PL" b="1" i="0" dirty="0">
                <a:effectLst/>
                <a:latin typeface="Arial" panose="020B0604020202020204" pitchFamily="34" charset="0"/>
              </a:rPr>
              <a:t>aby dokonać dokładnych prognoz dla każdej zmiennej w przyszłym okresie czasu.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906734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02EC35C8-550B-3172-2882-408F84461E8D}"/>
              </a:ext>
            </a:extLst>
          </p:cNvPr>
          <p:cNvSpPr txBox="1"/>
          <p:nvPr/>
        </p:nvSpPr>
        <p:spPr>
          <a:xfrm>
            <a:off x="1378634" y="876614"/>
            <a:ext cx="970670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pl-PL" b="0" i="0" dirty="0">
                <a:effectLst/>
                <a:latin typeface="Arial" panose="020B0604020202020204" pitchFamily="34" charset="0"/>
              </a:rPr>
              <a:t>Określamy, które zmienne są istotne dla prognozy. Oprócz zmiennej docelowej, którą chcesz przewidzieć, zidentyfikuj inne zmienne, które mogą na nią wpływać.</a:t>
            </a:r>
          </a:p>
          <a:p>
            <a:pPr algn="l">
              <a:buFont typeface="+mj-lt"/>
              <a:buAutoNum type="arabicPeriod"/>
            </a:pPr>
            <a:endParaRPr lang="pl-PL" b="0" i="0" dirty="0"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pl-PL" b="0" i="0" dirty="0">
                <a:effectLst/>
                <a:latin typeface="Arial" panose="020B0604020202020204" pitchFamily="34" charset="0"/>
              </a:rPr>
              <a:t>Zbieramy dane historyczne dla wszystkich zidentyfikowanych zmiennych. Dane te powinny obejmować wystarczający okres czasu, aby uchwycić sezonowe wzorce, trendy i wszelkie cykliczne zachowania.</a:t>
            </a:r>
          </a:p>
          <a:p>
            <a:pPr algn="l">
              <a:buFont typeface="+mj-lt"/>
              <a:buAutoNum type="arabicPeriod"/>
            </a:pPr>
            <a:endParaRPr lang="pl-PL" b="0" i="0" dirty="0"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pl-PL" b="0" i="0" dirty="0">
                <a:effectLst/>
                <a:latin typeface="Arial" panose="020B0604020202020204" pitchFamily="34" charset="0"/>
              </a:rPr>
              <a:t>Obsługujemy wartości brakujące, wartości odstające i anomalie w danych. Może to obejmować imputację, wygładzanie danych lub techniki wykrywania anomalii.</a:t>
            </a:r>
          </a:p>
          <a:p>
            <a:pPr algn="l">
              <a:buFont typeface="+mj-lt"/>
              <a:buAutoNum type="arabicPeriod"/>
            </a:pPr>
            <a:endParaRPr lang="pl-PL" b="0" i="0" dirty="0"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pl-PL" b="0" i="0" dirty="0">
                <a:effectLst/>
                <a:latin typeface="Arial" panose="020B0604020202020204" pitchFamily="34" charset="0"/>
              </a:rPr>
              <a:t>Używamy wykresów i diagramów, aby zrozumieć zależności między zmiennymi, identyfikować trendy i wykrywać sezonowość lub wzorce cykliczne.</a:t>
            </a:r>
          </a:p>
          <a:p>
            <a:pPr algn="l">
              <a:buFont typeface="+mj-lt"/>
              <a:buAutoNum type="arabicPeriod"/>
            </a:pPr>
            <a:endParaRPr lang="pl-PL" b="0" i="0" dirty="0"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pl-PL" b="0" i="0" dirty="0">
                <a:effectLst/>
                <a:latin typeface="Arial" panose="020B0604020202020204" pitchFamily="34" charset="0"/>
              </a:rPr>
              <a:t>Wybieramy i używamy modeli prognozowania odpowiednich dla danych szeregów czasowych wielowymiarowych. Opcje obejmują </a:t>
            </a:r>
            <a:r>
              <a:rPr lang="pl-PL" b="0" i="0" dirty="0" err="1">
                <a:effectLst/>
                <a:latin typeface="Arial" panose="020B0604020202020204" pitchFamily="34" charset="0"/>
              </a:rPr>
              <a:t>Vector</a:t>
            </a:r>
            <a:r>
              <a:rPr lang="pl-PL" b="0" i="0" dirty="0">
                <a:effectLst/>
                <a:latin typeface="Arial" panose="020B0604020202020204" pitchFamily="34" charset="0"/>
              </a:rPr>
              <a:t> Auto </a:t>
            </a:r>
            <a:r>
              <a:rPr lang="pl-PL" b="0" i="0" dirty="0" err="1">
                <a:effectLst/>
                <a:latin typeface="Arial" panose="020B0604020202020204" pitchFamily="34" charset="0"/>
              </a:rPr>
              <a:t>Regression</a:t>
            </a:r>
            <a:r>
              <a:rPr lang="pl-PL" b="0" i="0" dirty="0">
                <a:effectLst/>
                <a:latin typeface="Arial" panose="020B0604020202020204" pitchFamily="34" charset="0"/>
              </a:rPr>
              <a:t> (VAR), </a:t>
            </a:r>
            <a:r>
              <a:rPr lang="pl-PL" b="0" i="1" dirty="0">
                <a:effectLst/>
                <a:latin typeface="Arial" panose="020B0604020202020204" pitchFamily="34" charset="0"/>
              </a:rPr>
              <a:t>modele </a:t>
            </a:r>
            <a:r>
              <a:rPr lang="pl-PL" b="0" i="1" dirty="0" err="1">
                <a:effectLst/>
                <a:latin typeface="Arial" panose="020B0604020202020204" pitchFamily="34" charset="0"/>
              </a:rPr>
              <a:t>State</a:t>
            </a:r>
            <a:r>
              <a:rPr lang="pl-PL" b="0" i="1" dirty="0">
                <a:effectLst/>
                <a:latin typeface="Arial" panose="020B0604020202020204" pitchFamily="34" charset="0"/>
              </a:rPr>
              <a:t> Space (takie jak filtry Kalmana) i podejścia uczenia maszynowego, takie jak sieci LSTM (</a:t>
            </a:r>
            <a:r>
              <a:rPr lang="pl-PL" b="0" i="1" dirty="0" err="1">
                <a:effectLst/>
                <a:latin typeface="Arial" panose="020B0604020202020204" pitchFamily="34" charset="0"/>
              </a:rPr>
              <a:t>Long</a:t>
            </a:r>
            <a:r>
              <a:rPr lang="pl-PL" b="0" i="1" dirty="0">
                <a:effectLst/>
                <a:latin typeface="Arial" panose="020B0604020202020204" pitchFamily="34" charset="0"/>
              </a:rPr>
              <a:t> </a:t>
            </a:r>
            <a:r>
              <a:rPr lang="pl-PL" b="0" i="1" dirty="0" err="1">
                <a:effectLst/>
                <a:latin typeface="Arial" panose="020B0604020202020204" pitchFamily="34" charset="0"/>
              </a:rPr>
              <a:t>Short</a:t>
            </a:r>
            <a:r>
              <a:rPr lang="pl-PL" b="0" i="1" dirty="0">
                <a:effectLst/>
                <a:latin typeface="Arial" panose="020B0604020202020204" pitchFamily="34" charset="0"/>
              </a:rPr>
              <a:t>-Term Memory).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1221DB03-38A6-3688-13EC-7B64885736A1}"/>
              </a:ext>
            </a:extLst>
          </p:cNvPr>
          <p:cNvSpPr txBox="1"/>
          <p:nvPr/>
        </p:nvSpPr>
        <p:spPr>
          <a:xfrm>
            <a:off x="1505243" y="295422"/>
            <a:ext cx="3727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Działania: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0425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47E4AA82-ACF2-3749-A59E-93DD4555ADD0}"/>
              </a:ext>
            </a:extLst>
          </p:cNvPr>
          <p:cNvSpPr txBox="1"/>
          <p:nvPr/>
        </p:nvSpPr>
        <p:spPr>
          <a:xfrm>
            <a:off x="1416734" y="125655"/>
            <a:ext cx="93585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l-PL" sz="2400" b="1" i="0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Wielowymiarowe prognozowanie szeregów </a:t>
            </a:r>
            <a:r>
              <a:rPr lang="pl-PL" sz="2400" b="1" dirty="0">
                <a:solidFill>
                  <a:srgbClr val="C00000"/>
                </a:solidFill>
                <a:latin typeface="Arial" panose="020B0604020202020204" pitchFamily="34" charset="0"/>
              </a:rPr>
              <a:t>(notowania akcji otwarcia (open) i zamknięcia (</a:t>
            </a:r>
            <a:r>
              <a:rPr lang="pl-PL" sz="2400" b="1" dirty="0" err="1">
                <a:solidFill>
                  <a:srgbClr val="C00000"/>
                </a:solidFill>
                <a:latin typeface="Arial" panose="020B0604020202020204" pitchFamily="34" charset="0"/>
              </a:rPr>
              <a:t>close</a:t>
            </a:r>
            <a:r>
              <a:rPr lang="pl-PL" sz="2400" b="1" dirty="0">
                <a:solidFill>
                  <a:srgbClr val="C00000"/>
                </a:solidFill>
                <a:latin typeface="Arial" panose="020B0604020202020204" pitchFamily="34" charset="0"/>
              </a:rPr>
              <a:t>) dla 4 spółek</a:t>
            </a:r>
            <a:endParaRPr lang="pl-PL" sz="2400" b="1" i="0" dirty="0"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9930A033-818C-82A6-8211-8957667135FE}"/>
              </a:ext>
            </a:extLst>
          </p:cNvPr>
          <p:cNvSpPr txBox="1"/>
          <p:nvPr/>
        </p:nvSpPr>
        <p:spPr>
          <a:xfrm>
            <a:off x="1304777" y="1526737"/>
            <a:ext cx="74171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0" i="0" dirty="0">
                <a:effectLst/>
                <a:latin typeface="Arial" panose="020B0604020202020204" pitchFamily="34" charset="0"/>
              </a:rPr>
              <a:t> </a:t>
            </a:r>
            <a:r>
              <a:rPr lang="pl-PL" dirty="0">
                <a:latin typeface="Arial" panose="020B0604020202020204" pitchFamily="34" charset="0"/>
              </a:rPr>
              <a:t>I</a:t>
            </a:r>
            <a:r>
              <a:rPr lang="pl-PL" b="0" i="0" dirty="0">
                <a:effectLst/>
                <a:latin typeface="Arial" panose="020B0604020202020204" pitchFamily="34" charset="0"/>
              </a:rPr>
              <a:t>mportuj niezbędne biblioteki </a:t>
            </a:r>
            <a:r>
              <a:rPr lang="pl-PL" b="0" i="0" dirty="0" err="1">
                <a:effectLst/>
                <a:latin typeface="Arial" panose="020B0604020202020204" pitchFamily="34" charset="0"/>
              </a:rPr>
              <a:t>Pythona</a:t>
            </a:r>
            <a:r>
              <a:rPr lang="pl-PL" b="0" i="0" dirty="0">
                <a:effectLst/>
                <a:latin typeface="Arial" panose="020B0604020202020204" pitchFamily="34" charset="0"/>
              </a:rPr>
              <a:t> i </a:t>
            </a:r>
            <a:r>
              <a:rPr lang="pl-PL" b="1" i="0" dirty="0">
                <a:effectLst/>
                <a:latin typeface="Arial" panose="020B0604020202020204" pitchFamily="34" charset="0"/>
              </a:rPr>
              <a:t>zestaw danych</a:t>
            </a:r>
            <a:r>
              <a:rPr lang="pl-PL" b="0" i="0" dirty="0">
                <a:effectLst/>
                <a:latin typeface="Arial" panose="020B0604020202020204" pitchFamily="34" charset="0"/>
              </a:rPr>
              <a:t> :</a:t>
            </a:r>
            <a:endParaRPr lang="en-GB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3B77A444-106A-3638-9674-27DE06072F2A}"/>
              </a:ext>
            </a:extLst>
          </p:cNvPr>
          <p:cNvSpPr txBox="1"/>
          <p:nvPr/>
        </p:nvSpPr>
        <p:spPr>
          <a:xfrm>
            <a:off x="8060788" y="838423"/>
            <a:ext cx="3548574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l-PL" sz="1400" b="0" i="0" dirty="0">
                <a:effectLst/>
                <a:latin typeface="Arial" panose="020B0604020202020204" pitchFamily="34" charset="0"/>
              </a:rPr>
              <a:t>Zbiór danych składa się z następujących kolumn:</a:t>
            </a:r>
          </a:p>
          <a:p>
            <a:pPr algn="l"/>
            <a:endParaRPr lang="pl-PL" sz="1400" b="0" i="0" dirty="0">
              <a:effectLst/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l-PL" sz="1400" b="0" i="0" dirty="0" err="1">
                <a:effectLst/>
                <a:latin typeface="Arial" panose="020B0604020202020204" pitchFamily="34" charset="0"/>
              </a:rPr>
              <a:t>Ticker</a:t>
            </a:r>
            <a:r>
              <a:rPr lang="pl-PL" sz="1400" b="0" i="0" dirty="0">
                <a:effectLst/>
                <a:latin typeface="Arial" panose="020B0604020202020204" pitchFamily="34" charset="0"/>
              </a:rPr>
              <a:t>: Symbol giełdowy.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l-PL" sz="1400" b="0" i="0" dirty="0">
              <a:effectLst/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l-PL" sz="1400" b="0" i="0" dirty="0" err="1">
                <a:effectLst/>
                <a:latin typeface="Arial" panose="020B0604020202020204" pitchFamily="34" charset="0"/>
              </a:rPr>
              <a:t>Date</a:t>
            </a:r>
            <a:r>
              <a:rPr lang="pl-PL" sz="1400" b="0" i="0" dirty="0">
                <a:effectLst/>
                <a:latin typeface="Arial" panose="020B0604020202020204" pitchFamily="34" charset="0"/>
              </a:rPr>
              <a:t>: Data sesji handlowej.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l-PL" sz="1400" b="0" i="0" dirty="0">
              <a:effectLst/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l-PL" sz="1400" b="0" i="0" dirty="0">
                <a:effectLst/>
                <a:latin typeface="Arial" panose="020B0604020202020204" pitchFamily="34" charset="0"/>
              </a:rPr>
              <a:t>Open: Cena otwarcia akcji w sesji handlowej.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l-PL" sz="1400" b="0" i="0" dirty="0">
              <a:effectLst/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l-PL" sz="1400" dirty="0">
                <a:latin typeface="Arial" panose="020B0604020202020204" pitchFamily="34" charset="0"/>
              </a:rPr>
              <a:t>High</a:t>
            </a:r>
            <a:r>
              <a:rPr lang="pl-PL" sz="1400" b="0" i="0" dirty="0">
                <a:effectLst/>
                <a:latin typeface="Arial" panose="020B0604020202020204" pitchFamily="34" charset="0"/>
              </a:rPr>
              <a:t>: Najwyższa cena akcji w trakcie sesji giełdowej.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l-PL" sz="1400" b="0" i="0" dirty="0">
              <a:effectLst/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l-PL" sz="1400" dirty="0" err="1">
                <a:latin typeface="Arial" panose="020B0604020202020204" pitchFamily="34" charset="0"/>
              </a:rPr>
              <a:t>Low</a:t>
            </a:r>
            <a:r>
              <a:rPr lang="pl-PL" sz="1400" b="0" i="0" dirty="0">
                <a:effectLst/>
                <a:latin typeface="Arial" panose="020B0604020202020204" pitchFamily="34" charset="0"/>
              </a:rPr>
              <a:t>: Najniższa cena akcji w trakcie sesji giełdowej.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l-PL" sz="1400" b="0" i="0" dirty="0">
              <a:effectLst/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l-PL" sz="1400" dirty="0">
                <a:latin typeface="Arial" panose="020B0604020202020204" pitchFamily="34" charset="0"/>
              </a:rPr>
              <a:t>Close</a:t>
            </a:r>
            <a:r>
              <a:rPr lang="pl-PL" sz="1400" b="0" i="0" dirty="0">
                <a:effectLst/>
                <a:latin typeface="Arial" panose="020B0604020202020204" pitchFamily="34" charset="0"/>
              </a:rPr>
              <a:t>: Cena zamknięcia akcji na daną sesję giełdową.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l-PL" sz="1400" b="0" i="0" dirty="0">
              <a:effectLst/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l-PL" sz="1400" b="0" i="0" dirty="0" err="1">
                <a:effectLst/>
                <a:latin typeface="Arial" panose="020B0604020202020204" pitchFamily="34" charset="0"/>
              </a:rPr>
              <a:t>Adj</a:t>
            </a:r>
            <a:r>
              <a:rPr lang="pl-PL" sz="1400" b="0" i="0" dirty="0">
                <a:effectLst/>
                <a:latin typeface="Arial" panose="020B0604020202020204" pitchFamily="34" charset="0"/>
              </a:rPr>
              <a:t> Close: Skorygowana cena zamknięcia akcji (skorygowana o takie czynniki, jak dywidendy i podział akcji).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l-PL" sz="1400" b="0" i="0" dirty="0">
              <a:effectLst/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l-PL" sz="1400" dirty="0">
                <a:latin typeface="Arial" panose="020B0604020202020204" pitchFamily="34" charset="0"/>
              </a:rPr>
              <a:t>Volume</a:t>
            </a:r>
            <a:r>
              <a:rPr lang="pl-PL" sz="1400" b="0" i="0" dirty="0">
                <a:effectLst/>
                <a:latin typeface="Arial" panose="020B0604020202020204" pitchFamily="34" charset="0"/>
              </a:rPr>
              <a:t>: Liczba akcji sprzedanych podczas sesji handlowej.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77E949B5-F35E-2BE8-9E00-AD73B925F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734" y="2080112"/>
            <a:ext cx="5412063" cy="1197659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6C73D865-4628-E78F-82F4-8BC348BBF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6734" y="3485986"/>
            <a:ext cx="5923603" cy="2353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637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227A88B7-0F12-A126-1FF4-108DA6536639}"/>
              </a:ext>
            </a:extLst>
          </p:cNvPr>
          <p:cNvSpPr txBox="1"/>
          <p:nvPr/>
        </p:nvSpPr>
        <p:spPr>
          <a:xfrm>
            <a:off x="651803" y="254283"/>
            <a:ext cx="1088839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l-PL" b="0" i="0" dirty="0">
                <a:effectLst/>
                <a:latin typeface="Arial" panose="020B0604020202020204" pitchFamily="34" charset="0"/>
              </a:rPr>
              <a:t>Następne zadania w celu przygotowania danych:</a:t>
            </a:r>
          </a:p>
          <a:p>
            <a:pPr algn="l"/>
            <a:endParaRPr lang="pl-PL" b="0" i="0" dirty="0">
              <a:effectLst/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l-PL" b="0" i="0" dirty="0">
                <a:effectLst/>
                <a:latin typeface="Arial" panose="020B0604020202020204" pitchFamily="34" charset="0"/>
              </a:rPr>
              <a:t>Sprawdź, czy w zestawie danych nie ma brakujących wartości.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l-PL" b="0" i="0" dirty="0">
                <a:effectLst/>
                <a:latin typeface="Arial" panose="020B0604020202020204" pitchFamily="34" charset="0"/>
              </a:rPr>
              <a:t>Przekonwertuj kolumnę </a:t>
            </a:r>
            <a:r>
              <a:rPr lang="pl-PL" b="0" i="0" dirty="0" err="1">
                <a:effectLst/>
                <a:latin typeface="Arial" panose="020B0604020202020204" pitchFamily="34" charset="0"/>
              </a:rPr>
              <a:t>Date</a:t>
            </a:r>
            <a:r>
              <a:rPr lang="pl-PL" b="0" i="0" dirty="0">
                <a:effectLst/>
                <a:latin typeface="Arial" panose="020B0604020202020204" pitchFamily="34" charset="0"/>
              </a:rPr>
              <a:t> na typ data/godzina na potrzeby analizy szeregów czasowych.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l-PL" b="0" i="0" dirty="0">
                <a:effectLst/>
                <a:latin typeface="Arial" panose="020B0604020202020204" pitchFamily="34" charset="0"/>
              </a:rPr>
              <a:t>Sprawdź, ile unikalnych akcji (</a:t>
            </a:r>
            <a:r>
              <a:rPr lang="pl-PL" b="0" i="0" dirty="0" err="1">
                <a:effectLst/>
                <a:latin typeface="Arial" panose="020B0604020202020204" pitchFamily="34" charset="0"/>
              </a:rPr>
              <a:t>tickerów</a:t>
            </a:r>
            <a:r>
              <a:rPr lang="pl-PL" b="0" i="0" dirty="0">
                <a:effectLst/>
                <a:latin typeface="Arial" panose="020B0604020202020204" pitchFamily="34" charset="0"/>
              </a:rPr>
              <a:t>) jest obecnych i jakie są ich odpowiednie punkty danych.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F4768FAC-FF40-A059-248E-71483ED251AD}"/>
              </a:ext>
            </a:extLst>
          </p:cNvPr>
          <p:cNvSpPr txBox="1"/>
          <p:nvPr/>
        </p:nvSpPr>
        <p:spPr>
          <a:xfrm>
            <a:off x="8637562" y="1997839"/>
            <a:ext cx="214180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 err="1">
                <a:effectLst/>
                <a:latin typeface="Arial" panose="020B0604020202020204" pitchFamily="34" charset="0"/>
              </a:rPr>
              <a:t>Zestaw</a:t>
            </a:r>
            <a:r>
              <a:rPr lang="en-GB" b="0" i="0" dirty="0">
                <a:effectLst/>
                <a:latin typeface="Arial" panose="020B0604020202020204" pitchFamily="34" charset="0"/>
              </a:rPr>
              <a:t> </a:t>
            </a:r>
            <a:r>
              <a:rPr lang="en-GB" b="0" i="0" dirty="0" err="1">
                <a:effectLst/>
                <a:latin typeface="Arial" panose="020B0604020202020204" pitchFamily="34" charset="0"/>
              </a:rPr>
              <a:t>danych</a:t>
            </a:r>
            <a:r>
              <a:rPr lang="en-GB" b="0" i="0" dirty="0">
                <a:effectLst/>
                <a:latin typeface="Arial" panose="020B0604020202020204" pitchFamily="34" charset="0"/>
              </a:rPr>
              <a:t> </a:t>
            </a:r>
            <a:r>
              <a:rPr lang="en-GB" b="0" i="0" dirty="0" err="1">
                <a:effectLst/>
                <a:latin typeface="Arial" panose="020B0604020202020204" pitchFamily="34" charset="0"/>
              </a:rPr>
              <a:t>zawiera</a:t>
            </a:r>
            <a:r>
              <a:rPr lang="en-GB" b="0" i="0" dirty="0">
                <a:effectLst/>
                <a:latin typeface="Arial" panose="020B0604020202020204" pitchFamily="34" charset="0"/>
              </a:rPr>
              <a:t> </a:t>
            </a:r>
            <a:r>
              <a:rPr lang="en-GB" b="0" i="0" dirty="0" err="1">
                <a:effectLst/>
                <a:latin typeface="Arial" panose="020B0604020202020204" pitchFamily="34" charset="0"/>
              </a:rPr>
              <a:t>dane</a:t>
            </a:r>
            <a:r>
              <a:rPr lang="en-GB" b="0" i="0" dirty="0">
                <a:effectLst/>
                <a:latin typeface="Arial" panose="020B0604020202020204" pitchFamily="34" charset="0"/>
              </a:rPr>
              <a:t> </a:t>
            </a:r>
            <a:r>
              <a:rPr lang="en-GB" b="0" i="0" dirty="0" err="1">
                <a:effectLst/>
                <a:latin typeface="Arial" panose="020B0604020202020204" pitchFamily="34" charset="0"/>
              </a:rPr>
              <a:t>dla</a:t>
            </a:r>
            <a:r>
              <a:rPr lang="en-GB" b="0" i="0" dirty="0">
                <a:effectLst/>
                <a:latin typeface="Arial" panose="020B0604020202020204" pitchFamily="34" charset="0"/>
              </a:rPr>
              <a:t> </a:t>
            </a:r>
            <a:r>
              <a:rPr lang="en-GB" b="0" i="0" dirty="0" err="1">
                <a:effectLst/>
                <a:latin typeface="Arial" panose="020B0604020202020204" pitchFamily="34" charset="0"/>
              </a:rPr>
              <a:t>czterech</a:t>
            </a:r>
            <a:r>
              <a:rPr lang="en-GB" b="0" i="0" dirty="0">
                <a:effectLst/>
                <a:latin typeface="Arial" panose="020B0604020202020204" pitchFamily="34" charset="0"/>
              </a:rPr>
              <a:t> </a:t>
            </a:r>
            <a:r>
              <a:rPr lang="en-GB" b="0" i="0" dirty="0" err="1">
                <a:effectLst/>
                <a:latin typeface="Arial" panose="020B0604020202020204" pitchFamily="34" charset="0"/>
              </a:rPr>
              <a:t>unikalnych</a:t>
            </a:r>
            <a:r>
              <a:rPr lang="en-GB" b="0" i="0" dirty="0">
                <a:effectLst/>
                <a:latin typeface="Arial" panose="020B0604020202020204" pitchFamily="34" charset="0"/>
              </a:rPr>
              <a:t> </a:t>
            </a:r>
            <a:r>
              <a:rPr lang="en-GB" b="0" i="0" dirty="0" err="1">
                <a:effectLst/>
                <a:latin typeface="Arial" panose="020B0604020202020204" pitchFamily="34" charset="0"/>
              </a:rPr>
              <a:t>akcji</a:t>
            </a:r>
            <a:r>
              <a:rPr lang="en-GB" b="0" i="0" dirty="0">
                <a:effectLst/>
                <a:latin typeface="Arial" panose="020B0604020202020204" pitchFamily="34" charset="0"/>
              </a:rPr>
              <a:t>:</a:t>
            </a:r>
            <a:endParaRPr lang="pl-PL" b="0" i="0" dirty="0">
              <a:effectLst/>
              <a:latin typeface="Arial" panose="020B0604020202020204" pitchFamily="34" charset="0"/>
            </a:endParaRPr>
          </a:p>
          <a:p>
            <a:endParaRPr lang="pl-PL" b="0" i="0" dirty="0">
              <a:effectLst/>
              <a:latin typeface="Arial" panose="020B0604020202020204" pitchFamily="34" charset="0"/>
            </a:endParaRPr>
          </a:p>
          <a:p>
            <a:r>
              <a:rPr lang="en-GB" b="0" i="0" dirty="0">
                <a:effectLst/>
                <a:latin typeface="Arial" panose="020B0604020202020204" pitchFamily="34" charset="0"/>
              </a:rPr>
              <a:t>Apple (AAPL), Microsoft (MSFT), Netflix (NFLX) </a:t>
            </a:r>
            <a:r>
              <a:rPr lang="en-GB" b="0" i="0" dirty="0" err="1">
                <a:effectLst/>
                <a:latin typeface="Arial" panose="020B0604020202020204" pitchFamily="34" charset="0"/>
              </a:rPr>
              <a:t>i</a:t>
            </a:r>
            <a:r>
              <a:rPr lang="en-GB" b="0" i="0" dirty="0">
                <a:effectLst/>
                <a:latin typeface="Arial" panose="020B0604020202020204" pitchFamily="34" charset="0"/>
              </a:rPr>
              <a:t> Google (GOOG),</a:t>
            </a:r>
            <a:endParaRPr lang="pl-PL" b="0" i="0" dirty="0">
              <a:effectLst/>
              <a:latin typeface="Arial" panose="020B0604020202020204" pitchFamily="34" charset="0"/>
            </a:endParaRPr>
          </a:p>
          <a:p>
            <a:endParaRPr lang="pl-PL" dirty="0">
              <a:latin typeface="Arial" panose="020B0604020202020204" pitchFamily="34" charset="0"/>
            </a:endParaRPr>
          </a:p>
          <a:p>
            <a:r>
              <a:rPr lang="en-GB" b="0" i="0" dirty="0">
                <a:effectLst/>
                <a:latin typeface="Arial" panose="020B0604020202020204" pitchFamily="34" charset="0"/>
              </a:rPr>
              <a:t> </a:t>
            </a:r>
            <a:r>
              <a:rPr lang="en-GB" b="0" i="0" dirty="0" err="1">
                <a:effectLst/>
                <a:latin typeface="Arial" panose="020B0604020202020204" pitchFamily="34" charset="0"/>
              </a:rPr>
              <a:t>każda</a:t>
            </a:r>
            <a:r>
              <a:rPr lang="en-GB" b="0" i="0" dirty="0">
                <a:effectLst/>
                <a:latin typeface="Arial" panose="020B0604020202020204" pitchFamily="34" charset="0"/>
              </a:rPr>
              <a:t> z 62 </a:t>
            </a:r>
            <a:r>
              <a:rPr lang="en-GB" b="0" i="0" dirty="0" err="1">
                <a:effectLst/>
                <a:latin typeface="Arial" panose="020B0604020202020204" pitchFamily="34" charset="0"/>
              </a:rPr>
              <a:t>punktami</a:t>
            </a:r>
            <a:r>
              <a:rPr lang="en-GB" b="0" i="0" dirty="0">
                <a:effectLst/>
                <a:latin typeface="Arial" panose="020B0604020202020204" pitchFamily="34" charset="0"/>
              </a:rPr>
              <a:t> </a:t>
            </a:r>
            <a:r>
              <a:rPr lang="en-GB" b="0" i="0" dirty="0" err="1">
                <a:effectLst/>
                <a:latin typeface="Arial" panose="020B0604020202020204" pitchFamily="34" charset="0"/>
              </a:rPr>
              <a:t>danych</a:t>
            </a:r>
            <a:r>
              <a:rPr lang="en-GB" b="0" i="0" dirty="0">
                <a:effectLst/>
                <a:latin typeface="Arial" panose="020B0604020202020204" pitchFamily="34" charset="0"/>
              </a:rPr>
              <a:t>.</a:t>
            </a:r>
            <a:endParaRPr lang="en-GB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F8A64C16-2157-B159-3DA7-64B7BD715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034" y="1830085"/>
            <a:ext cx="4660866" cy="1477328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821DA984-D376-AF4D-D9DC-450F4BD40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45" y="3350804"/>
            <a:ext cx="1171575" cy="1447800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D605BE90-7C3E-406B-99AC-C1C5845480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034" y="4841996"/>
            <a:ext cx="2000250" cy="409575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87B0B4B1-E649-B5CF-FFC7-395FB52EDE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034" y="5414159"/>
            <a:ext cx="2257425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845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70C63C7C-4E9B-6BFB-0505-9E83ED2BBCB5}"/>
              </a:ext>
            </a:extLst>
          </p:cNvPr>
          <p:cNvSpPr txBox="1"/>
          <p:nvPr/>
        </p:nvSpPr>
        <p:spPr>
          <a:xfrm>
            <a:off x="995288" y="234686"/>
            <a:ext cx="88942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l-PL" b="0" i="0" dirty="0">
                <a:effectLst/>
                <a:latin typeface="Arial" panose="020B0604020202020204" pitchFamily="34" charset="0"/>
              </a:rPr>
              <a:t>Teraz, aby zbadać zbiór danych:</a:t>
            </a:r>
          </a:p>
          <a:p>
            <a:pPr algn="l">
              <a:buFont typeface="+mj-lt"/>
              <a:buAutoNum type="arabicPeriod"/>
            </a:pPr>
            <a:r>
              <a:rPr lang="pl-PL" b="0" i="0" dirty="0">
                <a:effectLst/>
                <a:latin typeface="Arial" panose="020B0604020202020204" pitchFamily="34" charset="0"/>
              </a:rPr>
              <a:t>Sprawdź zakres czasowy zbioru danych.</a:t>
            </a:r>
          </a:p>
          <a:p>
            <a:pPr algn="l">
              <a:buFont typeface="+mj-lt"/>
              <a:buAutoNum type="arabicPeriod"/>
            </a:pPr>
            <a:r>
              <a:rPr lang="pl-PL" b="0" i="0" dirty="0">
                <a:effectLst/>
                <a:latin typeface="Arial" panose="020B0604020202020204" pitchFamily="34" charset="0"/>
              </a:rPr>
              <a:t>Wizualizuj </a:t>
            </a:r>
            <a:r>
              <a:rPr lang="pl-PL" b="1" i="0" dirty="0">
                <a:effectLst/>
                <a:latin typeface="Arial" panose="020B0604020202020204" pitchFamily="34" charset="0"/>
              </a:rPr>
              <a:t>trendy cen otwarcia (open) i zamknięcia (</a:t>
            </a:r>
            <a:r>
              <a:rPr lang="pl-PL" b="1" i="0" dirty="0" err="1">
                <a:effectLst/>
                <a:latin typeface="Arial" panose="020B0604020202020204" pitchFamily="34" charset="0"/>
              </a:rPr>
              <a:t>close</a:t>
            </a:r>
            <a:r>
              <a:rPr lang="pl-PL" b="1" i="0" dirty="0">
                <a:effectLst/>
                <a:latin typeface="Arial" panose="020B0604020202020204" pitchFamily="34" charset="0"/>
              </a:rPr>
              <a:t>) dla </a:t>
            </a:r>
            <a:r>
              <a:rPr lang="pl-PL" b="0" i="0" dirty="0">
                <a:effectLst/>
                <a:latin typeface="Arial" panose="020B0604020202020204" pitchFamily="34" charset="0"/>
              </a:rPr>
              <a:t>każdej akcji.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71F8C8AB-DBC9-B818-4202-7BCF7C5E3E18}"/>
              </a:ext>
            </a:extLst>
          </p:cNvPr>
          <p:cNvSpPr txBox="1"/>
          <p:nvPr/>
        </p:nvSpPr>
        <p:spPr>
          <a:xfrm>
            <a:off x="6323393" y="5238319"/>
            <a:ext cx="572086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400" dirty="0">
                <a:latin typeface="Arial" panose="020B0604020202020204" pitchFamily="34" charset="0"/>
              </a:rPr>
              <a:t>W</a:t>
            </a:r>
            <a:r>
              <a:rPr lang="pl-PL" sz="1400" b="0" i="0" dirty="0">
                <a:effectLst/>
                <a:latin typeface="Arial" panose="020B0604020202020204" pitchFamily="34" charset="0"/>
              </a:rPr>
              <a:t>ykres przedstawia trendy cen otwarcia i zamknięcia akcji spółek Apple (AAPL), Microsoft (MSFT), </a:t>
            </a:r>
            <a:r>
              <a:rPr lang="pl-PL" sz="1400" b="0" i="0" dirty="0" err="1">
                <a:effectLst/>
                <a:latin typeface="Arial" panose="020B0604020202020204" pitchFamily="34" charset="0"/>
              </a:rPr>
              <a:t>Netflix</a:t>
            </a:r>
            <a:r>
              <a:rPr lang="pl-PL" sz="1400" b="0" i="0" dirty="0">
                <a:effectLst/>
                <a:latin typeface="Arial" panose="020B0604020202020204" pitchFamily="34" charset="0"/>
              </a:rPr>
              <a:t> (NFLX) i Google (GOOG) w okresie trzech miesięcy od lutego 2023 r. do maja 2023 r.</a:t>
            </a:r>
          </a:p>
          <a:p>
            <a:endParaRPr lang="pl-PL" sz="1400" b="0" i="0" dirty="0">
              <a:effectLst/>
              <a:latin typeface="Arial" panose="020B0604020202020204" pitchFamily="34" charset="0"/>
            </a:endParaRPr>
          </a:p>
          <a:p>
            <a:r>
              <a:rPr lang="pl-PL" sz="1400" b="0" i="0" dirty="0">
                <a:effectLst/>
                <a:latin typeface="Arial" panose="020B0604020202020204" pitchFamily="34" charset="0"/>
              </a:rPr>
              <a:t> Każda akcja charakteryzuje się własnym schematem wahań w tym czasie.</a:t>
            </a:r>
            <a:endParaRPr lang="en-GB" sz="1400" dirty="0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AC554FC2-7CB9-B2B8-C855-F33BCFDAA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88" y="1289758"/>
            <a:ext cx="4733925" cy="733425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EBCF7D73-DB42-3EBD-65D8-7A4AEF0B8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84" y="2436714"/>
            <a:ext cx="5267325" cy="3419475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5E460A52-B209-8D5D-55F9-71B431B8B3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500773"/>
            <a:ext cx="5970490" cy="372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519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44262505-4121-8C39-29B8-8DA6769399AA}"/>
              </a:ext>
            </a:extLst>
          </p:cNvPr>
          <p:cNvSpPr txBox="1"/>
          <p:nvPr/>
        </p:nvSpPr>
        <p:spPr>
          <a:xfrm>
            <a:off x="3485270" y="258466"/>
            <a:ext cx="60983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l-PL" sz="2400" b="1" i="0" dirty="0"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Wybór modelu i przygotowanie danych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7923335E-C805-8B9D-F8BC-024E91EDC4F4}"/>
              </a:ext>
            </a:extLst>
          </p:cNvPr>
          <p:cNvSpPr txBox="1"/>
          <p:nvPr/>
        </p:nvSpPr>
        <p:spPr>
          <a:xfrm>
            <a:off x="792480" y="720131"/>
            <a:ext cx="1060704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l-PL" b="0" i="0" dirty="0">
                <a:effectLst/>
                <a:latin typeface="Arial" panose="020B0604020202020204" pitchFamily="34" charset="0"/>
              </a:rPr>
              <a:t>Przechodząc do wyboru modelu do prognozowania, biorąc pod uwagę wielowymiarową naturę naszych danych, model </a:t>
            </a:r>
            <a:r>
              <a:rPr lang="pl-PL" b="1" i="0" dirty="0" err="1">
                <a:effectLst/>
                <a:latin typeface="Arial" panose="020B0604020202020204" pitchFamily="34" charset="0"/>
              </a:rPr>
              <a:t>Vector</a:t>
            </a:r>
            <a:r>
              <a:rPr lang="pl-PL" b="1" i="0" dirty="0">
                <a:effectLst/>
                <a:latin typeface="Arial" panose="020B0604020202020204" pitchFamily="34" charset="0"/>
              </a:rPr>
              <a:t> </a:t>
            </a:r>
            <a:r>
              <a:rPr lang="pl-PL" b="1" i="0" dirty="0" err="1">
                <a:effectLst/>
                <a:latin typeface="Arial" panose="020B0604020202020204" pitchFamily="34" charset="0"/>
              </a:rPr>
              <a:t>AutoRegression</a:t>
            </a:r>
            <a:r>
              <a:rPr lang="pl-PL" b="1" i="0" dirty="0">
                <a:effectLst/>
                <a:latin typeface="Arial" panose="020B0604020202020204" pitchFamily="34" charset="0"/>
              </a:rPr>
              <a:t> (VAR</a:t>
            </a:r>
            <a:r>
              <a:rPr lang="pl-PL" b="0" i="0" dirty="0">
                <a:effectLst/>
                <a:latin typeface="Arial" panose="020B0604020202020204" pitchFamily="34" charset="0"/>
              </a:rPr>
              <a:t>) może być odpowiednim wyborem. </a:t>
            </a:r>
          </a:p>
          <a:p>
            <a:pPr algn="l"/>
            <a:endParaRPr lang="pl-PL" dirty="0">
              <a:latin typeface="Arial" panose="020B0604020202020204" pitchFamily="34" charset="0"/>
            </a:endParaRPr>
          </a:p>
          <a:p>
            <a:pPr algn="l"/>
            <a:r>
              <a:rPr lang="pl-PL" b="0" i="0" dirty="0">
                <a:effectLst/>
                <a:latin typeface="Arial" panose="020B0604020202020204" pitchFamily="34" charset="0"/>
              </a:rPr>
              <a:t>Modele VAR mogą uchwycić liniowe współzależności między wieloma szeregami czasowymi, co czyni je dobrym wyborem do prognozowania cen kilku akcji jednocześnie.</a:t>
            </a:r>
          </a:p>
          <a:p>
            <a:pPr algn="l"/>
            <a:endParaRPr lang="pl-PL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pl-PL" b="0" i="0" dirty="0">
                <a:effectLst/>
                <a:latin typeface="Arial" panose="020B0604020202020204" pitchFamily="34" charset="0"/>
              </a:rPr>
              <a:t>Zanim przejdziemy do modelowania VAR, ważne jest, aby upewnić się, że </a:t>
            </a:r>
            <a:r>
              <a:rPr lang="pl-PL" b="1" i="0" dirty="0">
                <a:effectLst/>
                <a:latin typeface="Arial" panose="020B0604020202020204" pitchFamily="34" charset="0"/>
              </a:rPr>
              <a:t>dane szeregów czasowych dla każdej akcji są </a:t>
            </a:r>
            <a:r>
              <a:rPr lang="pl-PL" sz="2400" b="1" i="0" dirty="0">
                <a:effectLst/>
                <a:latin typeface="Arial" panose="020B0604020202020204" pitchFamily="34" charset="0"/>
              </a:rPr>
              <a:t>stacjonarne</a:t>
            </a:r>
            <a:r>
              <a:rPr lang="pl-PL" b="0" i="0" dirty="0">
                <a:effectLst/>
                <a:latin typeface="Arial" panose="020B0604020202020204" pitchFamily="34" charset="0"/>
              </a:rPr>
              <a:t>, ponieważ modele VAR wymagają stacjonarności. </a:t>
            </a:r>
          </a:p>
          <a:p>
            <a:pPr algn="l"/>
            <a:endParaRPr lang="pl-PL" dirty="0">
              <a:latin typeface="Arial" panose="020B0604020202020204" pitchFamily="34" charset="0"/>
            </a:endParaRPr>
          </a:p>
          <a:p>
            <a:pPr algn="l"/>
            <a:r>
              <a:rPr lang="pl-PL" b="1" i="0" dirty="0">
                <a:effectLst/>
                <a:latin typeface="Arial" panose="020B0604020202020204" pitchFamily="34" charset="0"/>
              </a:rPr>
              <a:t>Stacjonarność oznacza, że ​​właściwości statystyczne szeregu (średnia, wariancja) nie zmieniają się w czasie.</a:t>
            </a:r>
            <a:r>
              <a:rPr lang="pl-PL" b="0" i="0" dirty="0">
                <a:effectLst/>
                <a:latin typeface="Arial" panose="020B0604020202020204" pitchFamily="34" charset="0"/>
              </a:rPr>
              <a:t> Wykonajmy następujące kroki:</a:t>
            </a:r>
          </a:p>
          <a:p>
            <a:pPr algn="l"/>
            <a:endParaRPr lang="pl-PL" b="0" i="0" dirty="0"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pl-PL" b="0" i="0" dirty="0">
                <a:effectLst/>
                <a:latin typeface="Arial" panose="020B0604020202020204" pitchFamily="34" charset="0"/>
              </a:rPr>
              <a:t>Dla każdej ceny zamknięcia akcji zastosujemy </a:t>
            </a:r>
            <a:r>
              <a:rPr lang="pl-PL" b="1" i="0" dirty="0">
                <a:effectLst/>
                <a:latin typeface="Arial" panose="020B0604020202020204" pitchFamily="34" charset="0"/>
              </a:rPr>
              <a:t>rozszerzony test </a:t>
            </a:r>
            <a:r>
              <a:rPr lang="pl-PL" b="1" i="0" dirty="0" err="1">
                <a:effectLst/>
                <a:latin typeface="Arial" panose="020B0604020202020204" pitchFamily="34" charset="0"/>
              </a:rPr>
              <a:t>Dickeya</a:t>
            </a:r>
            <a:r>
              <a:rPr lang="pl-PL" b="1" i="0" dirty="0">
                <a:effectLst/>
                <a:latin typeface="Arial" panose="020B0604020202020204" pitchFamily="34" charset="0"/>
              </a:rPr>
              <a:t>-Fullera (ADF).</a:t>
            </a:r>
          </a:p>
          <a:p>
            <a:pPr algn="l">
              <a:buFont typeface="+mj-lt"/>
              <a:buAutoNum type="arabicPeriod"/>
            </a:pPr>
            <a:endParaRPr lang="pl-PL" b="0" i="0" dirty="0"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pl-PL" b="0" i="0" dirty="0">
                <a:effectLst/>
                <a:latin typeface="Arial" panose="020B0604020202020204" pitchFamily="34" charset="0"/>
              </a:rPr>
              <a:t>W zależności od wyników testu ADF może zaistnieć </a:t>
            </a:r>
            <a:r>
              <a:rPr lang="pl-PL" b="1" i="0" dirty="0">
                <a:effectLst/>
                <a:latin typeface="Arial" panose="020B0604020202020204" pitchFamily="34" charset="0"/>
              </a:rPr>
              <a:t>konieczność przekształcenia danych (np. przez różnicowanie) w celu osiągnięcia stacjonarności</a:t>
            </a:r>
            <a:r>
              <a:rPr lang="pl-PL" b="0" i="0" dirty="0">
                <a:effectLst/>
                <a:latin typeface="Arial" panose="020B0604020202020204" pitchFamily="34" charset="0"/>
              </a:rPr>
              <a:t>.</a:t>
            </a:r>
          </a:p>
          <a:p>
            <a:pPr algn="l">
              <a:buFont typeface="+mj-lt"/>
              <a:buAutoNum type="arabicPeriod"/>
            </a:pPr>
            <a:endParaRPr lang="pl-PL" b="0" i="0" dirty="0"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pl-PL" b="1" i="0" dirty="0">
                <a:effectLst/>
                <a:latin typeface="Arial" panose="020B0604020202020204" pitchFamily="34" charset="0"/>
              </a:rPr>
              <a:t>Szkolenie modelu VAR i prognozowanie przyszłych wartości.</a:t>
            </a:r>
          </a:p>
        </p:txBody>
      </p:sp>
    </p:spTree>
    <p:extLst>
      <p:ext uri="{BB962C8B-B14F-4D97-AF65-F5344CB8AC3E}">
        <p14:creationId xmlns:p14="http://schemas.microsoft.com/office/powerpoint/2010/main" val="3607753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35B2C76A-A302-224F-57ED-6A4F57D3CEA5}"/>
              </a:ext>
            </a:extLst>
          </p:cNvPr>
          <p:cNvSpPr txBox="1"/>
          <p:nvPr/>
        </p:nvSpPr>
        <p:spPr>
          <a:xfrm>
            <a:off x="516985" y="176238"/>
            <a:ext cx="83878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>
                <a:latin typeface="Arial" panose="020B0604020202020204" pitchFamily="34" charset="0"/>
              </a:rPr>
              <a:t>Test </a:t>
            </a:r>
            <a:r>
              <a:rPr lang="pl-PL" b="0" i="0" dirty="0">
                <a:effectLst/>
                <a:latin typeface="Arial" panose="020B0604020202020204" pitchFamily="34" charset="0"/>
              </a:rPr>
              <a:t> ADF na stacjonarność. Zróbmy to </a:t>
            </a:r>
            <a:r>
              <a:rPr lang="pl-PL" b="1" i="0" dirty="0">
                <a:effectLst/>
                <a:latin typeface="Arial" panose="020B0604020202020204" pitchFamily="34" charset="0"/>
              </a:rPr>
              <a:t>dla każdej ceny open i </a:t>
            </a:r>
            <a:r>
              <a:rPr lang="pl-PL" b="1" dirty="0" err="1">
                <a:latin typeface="Arial" panose="020B0604020202020204" pitchFamily="34" charset="0"/>
              </a:rPr>
              <a:t>close</a:t>
            </a:r>
            <a:r>
              <a:rPr lang="pl-PL" b="1" i="0" dirty="0">
                <a:effectLst/>
                <a:latin typeface="Arial" panose="020B0604020202020204" pitchFamily="34" charset="0"/>
              </a:rPr>
              <a:t> akcji:</a:t>
            </a:r>
            <a:endParaRPr lang="en-GB" b="1" dirty="0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E454A2BA-0057-E7BB-E5DD-240FB6E4E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6497" y="690538"/>
            <a:ext cx="2597511" cy="5321936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BE30838C-4CAA-97E7-85D2-E558DE646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22" y="845527"/>
            <a:ext cx="6734175" cy="3619500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72623551-3313-5558-97CA-C7F16EC54B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0458" y="689592"/>
            <a:ext cx="2631541" cy="532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589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9270C2F0-2D09-FFCF-1567-02B912A61603}"/>
              </a:ext>
            </a:extLst>
          </p:cNvPr>
          <p:cNvSpPr txBox="1"/>
          <p:nvPr/>
        </p:nvSpPr>
        <p:spPr>
          <a:xfrm>
            <a:off x="786618" y="3199286"/>
            <a:ext cx="1090246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l-PL" b="0" i="0" dirty="0">
                <a:effectLst/>
                <a:latin typeface="Arial" panose="020B0604020202020204" pitchFamily="34" charset="0"/>
              </a:rPr>
              <a:t>Wyniki rozszerzonego testu </a:t>
            </a:r>
            <a:r>
              <a:rPr lang="pl-PL" b="0" i="0" dirty="0" err="1">
                <a:effectLst/>
                <a:latin typeface="Arial" panose="020B0604020202020204" pitchFamily="34" charset="0"/>
              </a:rPr>
              <a:t>Dickeya</a:t>
            </a:r>
            <a:r>
              <a:rPr lang="pl-PL" b="0" i="0" dirty="0">
                <a:effectLst/>
                <a:latin typeface="Arial" panose="020B0604020202020204" pitchFamily="34" charset="0"/>
              </a:rPr>
              <a:t>-Fullera (ADF) dla ceny zamknięcia (</a:t>
            </a:r>
            <a:r>
              <a:rPr lang="pl-PL" b="0" i="0" dirty="0" err="1">
                <a:effectLst/>
                <a:latin typeface="Arial" panose="020B0604020202020204" pitchFamily="34" charset="0"/>
              </a:rPr>
              <a:t>close</a:t>
            </a:r>
            <a:r>
              <a:rPr lang="pl-PL" b="0" i="0" dirty="0">
                <a:effectLst/>
                <a:latin typeface="Arial" panose="020B0604020202020204" pitchFamily="34" charset="0"/>
              </a:rPr>
              <a:t>) każdej akcji wskazują: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l-PL" b="1" i="0" dirty="0">
                <a:effectLst/>
                <a:latin typeface="Arial" panose="020B0604020202020204" pitchFamily="34" charset="0"/>
              </a:rPr>
              <a:t>AAPL</a:t>
            </a:r>
            <a:r>
              <a:rPr lang="pl-PL" b="0" i="0" dirty="0">
                <a:effectLst/>
                <a:latin typeface="Arial" panose="020B0604020202020204" pitchFamily="34" charset="0"/>
              </a:rPr>
              <a:t> :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l-PL" b="1" i="0" dirty="0">
                <a:effectLst/>
                <a:latin typeface="Arial" panose="020B0604020202020204" pitchFamily="34" charset="0"/>
              </a:rPr>
              <a:t>MSFT</a:t>
            </a:r>
            <a:r>
              <a:rPr lang="pl-PL" b="0" i="0" dirty="0">
                <a:effectLst/>
                <a:latin typeface="Arial" panose="020B0604020202020204" pitchFamily="34" charset="0"/>
              </a:rPr>
              <a:t> :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l-PL" b="1" i="0" dirty="0">
                <a:effectLst/>
                <a:latin typeface="Arial" panose="020B0604020202020204" pitchFamily="34" charset="0"/>
              </a:rPr>
              <a:t>NFLX</a:t>
            </a:r>
            <a:r>
              <a:rPr lang="pl-PL" b="0" i="0" dirty="0">
                <a:effectLst/>
                <a:latin typeface="Arial" panose="020B0604020202020204" pitchFamily="34" charset="0"/>
              </a:rPr>
              <a:t> :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l-PL" b="1" i="0" dirty="0">
                <a:effectLst/>
                <a:latin typeface="Arial" panose="020B0604020202020204" pitchFamily="34" charset="0"/>
              </a:rPr>
              <a:t>GOOG</a:t>
            </a:r>
            <a:r>
              <a:rPr lang="pl-PL" b="0" i="0" dirty="0">
                <a:effectLst/>
                <a:latin typeface="Arial" panose="020B0604020202020204" pitchFamily="34" charset="0"/>
              </a:rPr>
              <a:t> :</a:t>
            </a:r>
            <a:endParaRPr lang="pl-PL" dirty="0"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pl-PL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pl-PL" dirty="0">
                <a:latin typeface="Arial" panose="020B0604020202020204" pitchFamily="34" charset="0"/>
              </a:rPr>
              <a:t>Jeśli znajdziemy szeregi niestacjonarne</a:t>
            </a:r>
            <a:r>
              <a:rPr lang="pl-PL" b="0" i="0" dirty="0">
                <a:effectLst/>
                <a:latin typeface="Arial" panose="020B0604020202020204" pitchFamily="34" charset="0"/>
              </a:rPr>
              <a:t>, musimy uczynić je stacjonarnymi przed modelowaniem. Jednym z powszechnych podejść jest </a:t>
            </a:r>
            <a:r>
              <a:rPr lang="pl-PL" b="1" i="0" dirty="0">
                <a:effectLst/>
                <a:latin typeface="Arial" panose="020B0604020202020204" pitchFamily="34" charset="0"/>
              </a:rPr>
              <a:t>różnicowanie szeregów (</a:t>
            </a:r>
            <a:r>
              <a:rPr lang="pl-PL" b="1" i="0" dirty="0" err="1">
                <a:effectLst/>
                <a:latin typeface="Arial" panose="020B0604020202020204" pitchFamily="34" charset="0"/>
              </a:rPr>
              <a:t>differentiation</a:t>
            </a:r>
            <a:r>
              <a:rPr lang="pl-PL" b="1" i="0" dirty="0">
                <a:effectLst/>
                <a:latin typeface="Arial" panose="020B0604020202020204" pitchFamily="34" charset="0"/>
              </a:rPr>
              <a:t>)</a:t>
            </a:r>
            <a:r>
              <a:rPr lang="pl-PL" b="0" i="0" dirty="0">
                <a:effectLst/>
                <a:latin typeface="Arial" panose="020B0604020202020204" pitchFamily="34" charset="0"/>
              </a:rPr>
              <a:t>, co zazwyczaj oznacza przekształcanie danych w celu przedstawienia zmiany z jednego okresu do następnego, a nie wartości bezwzględnych.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05336F5B-A5CC-D408-C86D-9851112A8496}"/>
              </a:ext>
            </a:extLst>
          </p:cNvPr>
          <p:cNvSpPr txBox="1"/>
          <p:nvPr/>
        </p:nvSpPr>
        <p:spPr>
          <a:xfrm>
            <a:off x="786618" y="1194642"/>
            <a:ext cx="111861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l-PL" b="0" i="0" dirty="0">
                <a:effectLst/>
                <a:latin typeface="Arial" panose="020B0604020202020204" pitchFamily="34" charset="0"/>
              </a:rPr>
              <a:t>Wyniki rozszerzonego testu </a:t>
            </a:r>
            <a:r>
              <a:rPr lang="pl-PL" b="0" i="0" dirty="0" err="1">
                <a:effectLst/>
                <a:latin typeface="Arial" panose="020B0604020202020204" pitchFamily="34" charset="0"/>
              </a:rPr>
              <a:t>Dickeya</a:t>
            </a:r>
            <a:r>
              <a:rPr lang="pl-PL" b="0" i="0" dirty="0">
                <a:effectLst/>
                <a:latin typeface="Arial" panose="020B0604020202020204" pitchFamily="34" charset="0"/>
              </a:rPr>
              <a:t>-Fullera (ADF) dla ceny </a:t>
            </a:r>
            <a:r>
              <a:rPr lang="pl-PL" dirty="0">
                <a:latin typeface="Arial" panose="020B0604020202020204" pitchFamily="34" charset="0"/>
              </a:rPr>
              <a:t>otwarcia</a:t>
            </a:r>
            <a:r>
              <a:rPr lang="pl-PL" b="0" i="0" dirty="0">
                <a:effectLst/>
                <a:latin typeface="Arial" panose="020B0604020202020204" pitchFamily="34" charset="0"/>
              </a:rPr>
              <a:t> (</a:t>
            </a:r>
            <a:r>
              <a:rPr lang="pl-PL" dirty="0">
                <a:latin typeface="Arial" panose="020B0604020202020204" pitchFamily="34" charset="0"/>
              </a:rPr>
              <a:t>open</a:t>
            </a:r>
            <a:r>
              <a:rPr lang="pl-PL" b="0" i="0" dirty="0">
                <a:effectLst/>
                <a:latin typeface="Arial" panose="020B0604020202020204" pitchFamily="34" charset="0"/>
              </a:rPr>
              <a:t>) każdej akcji wskazują: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l-PL" b="1" i="0" dirty="0">
                <a:effectLst/>
                <a:latin typeface="Arial" panose="020B0604020202020204" pitchFamily="34" charset="0"/>
              </a:rPr>
              <a:t>AAPL</a:t>
            </a:r>
            <a:r>
              <a:rPr lang="pl-PL" b="0" i="0" dirty="0">
                <a:effectLst/>
                <a:latin typeface="Arial" panose="020B0604020202020204" pitchFamily="34" charset="0"/>
              </a:rPr>
              <a:t> :.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l-PL" b="1" i="0" dirty="0">
                <a:effectLst/>
                <a:latin typeface="Arial" panose="020B0604020202020204" pitchFamily="34" charset="0"/>
              </a:rPr>
              <a:t>MSFT</a:t>
            </a:r>
            <a:r>
              <a:rPr lang="pl-PL" b="0" i="0" dirty="0">
                <a:effectLst/>
                <a:latin typeface="Arial" panose="020B0604020202020204" pitchFamily="34" charset="0"/>
              </a:rPr>
              <a:t> :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l-PL" b="1" i="0" dirty="0">
                <a:effectLst/>
                <a:latin typeface="Arial" panose="020B0604020202020204" pitchFamily="34" charset="0"/>
              </a:rPr>
              <a:t>NFLX</a:t>
            </a:r>
            <a:r>
              <a:rPr lang="pl-PL" b="0" i="0" dirty="0">
                <a:effectLst/>
                <a:latin typeface="Arial" panose="020B0604020202020204" pitchFamily="34" charset="0"/>
              </a:rPr>
              <a:t> :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l-PL" b="1" i="0" dirty="0">
                <a:effectLst/>
                <a:latin typeface="Arial" panose="020B0604020202020204" pitchFamily="34" charset="0"/>
              </a:rPr>
              <a:t>GOOG</a:t>
            </a:r>
            <a:r>
              <a:rPr lang="pl-PL" b="0" i="0" dirty="0">
                <a:effectLst/>
                <a:latin typeface="Arial" panose="020B0604020202020204" pitchFamily="34" charset="0"/>
              </a:rPr>
              <a:t> :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B7066181-5D4B-A439-9605-3BA07FDFE41D}"/>
              </a:ext>
            </a:extLst>
          </p:cNvPr>
          <p:cNvSpPr txBox="1"/>
          <p:nvPr/>
        </p:nvSpPr>
        <p:spPr>
          <a:xfrm>
            <a:off x="786618" y="239151"/>
            <a:ext cx="10622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Test ADF:  p&gt; 0.05 – nie można odrzucić hipotezy 0, czyli szereg niestacjonarny,</a:t>
            </a:r>
          </a:p>
          <a:p>
            <a:r>
              <a:rPr lang="pl-PL" dirty="0"/>
              <a:t>                      p&lt; 0.05 – odrzucamy hipotezę 0, czyli szereg stacjonarny.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0068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38FD5D6B-D486-DB88-9EC2-AC163CF1482A}"/>
              </a:ext>
            </a:extLst>
          </p:cNvPr>
          <p:cNvSpPr txBox="1"/>
          <p:nvPr/>
        </p:nvSpPr>
        <p:spPr>
          <a:xfrm>
            <a:off x="1149447" y="164347"/>
            <a:ext cx="98931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0" i="0" dirty="0">
                <a:effectLst/>
                <a:latin typeface="Arial" panose="020B0604020202020204" pitchFamily="34" charset="0"/>
              </a:rPr>
              <a:t>Uczyńmy szereg stacjonarnym poprzez różnicowanie cen zamknięcia każdej akcji i ponowne testowanie stacjonarności:</a:t>
            </a:r>
            <a:endParaRPr lang="en-GB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4C9EC407-F553-8054-F081-B8E77CFC7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79" y="810678"/>
            <a:ext cx="6838950" cy="2019300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2E9EAB15-A43F-B53B-A606-C8050FA9E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137" y="1457009"/>
            <a:ext cx="2468693" cy="4572194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6086933E-C3C9-77EA-723C-62201DB126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3339" y="1457009"/>
            <a:ext cx="2351622" cy="457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77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DA78A178-797A-9B7D-B44D-87CCA549F7F6}"/>
              </a:ext>
            </a:extLst>
          </p:cNvPr>
          <p:cNvSpPr txBox="1"/>
          <p:nvPr/>
        </p:nvSpPr>
        <p:spPr>
          <a:xfrm>
            <a:off x="1192237" y="389431"/>
            <a:ext cx="91193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0" i="0" dirty="0">
                <a:effectLst/>
                <a:latin typeface="Arial" panose="020B0604020202020204" pitchFamily="34" charset="0"/>
              </a:rPr>
              <a:t>Po różnicowaniu cen zamknięcia wyniki rozszerzonego testu </a:t>
            </a:r>
            <a:r>
              <a:rPr lang="pl-PL" b="0" i="0" dirty="0" err="1">
                <a:effectLst/>
                <a:latin typeface="Arial" panose="020B0604020202020204" pitchFamily="34" charset="0"/>
              </a:rPr>
              <a:t>Dickeya</a:t>
            </a:r>
            <a:r>
              <a:rPr lang="pl-PL" b="0" i="0" dirty="0">
                <a:effectLst/>
                <a:latin typeface="Arial" panose="020B0604020202020204" pitchFamily="34" charset="0"/>
              </a:rPr>
              <a:t>-Fullera (ADF) dla każdej różnicowanej serii przedstawiają się następująco:</a:t>
            </a:r>
            <a:endParaRPr lang="en-GB" dirty="0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5EC4E753-30E9-948B-B7B8-888620C588EB}"/>
              </a:ext>
            </a:extLst>
          </p:cNvPr>
          <p:cNvSpPr txBox="1"/>
          <p:nvPr/>
        </p:nvSpPr>
        <p:spPr>
          <a:xfrm>
            <a:off x="786618" y="1194642"/>
            <a:ext cx="1118616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l-PL" b="0" i="0" dirty="0">
                <a:effectLst/>
                <a:latin typeface="Arial" panose="020B0604020202020204" pitchFamily="34" charset="0"/>
              </a:rPr>
              <a:t>Wyniki rozszerzonego testu </a:t>
            </a:r>
            <a:r>
              <a:rPr lang="pl-PL" b="0" i="0" dirty="0" err="1">
                <a:effectLst/>
                <a:latin typeface="Arial" panose="020B0604020202020204" pitchFamily="34" charset="0"/>
              </a:rPr>
              <a:t>Dickeya</a:t>
            </a:r>
            <a:r>
              <a:rPr lang="pl-PL" b="0" i="0" dirty="0">
                <a:effectLst/>
                <a:latin typeface="Arial" panose="020B0604020202020204" pitchFamily="34" charset="0"/>
              </a:rPr>
              <a:t>-Fullera (ADF) </a:t>
            </a:r>
            <a:r>
              <a:rPr lang="pl-PL" b="1" i="0" dirty="0">
                <a:effectLst/>
                <a:latin typeface="Arial" panose="020B0604020202020204" pitchFamily="34" charset="0"/>
              </a:rPr>
              <a:t>po różnicowaniu </a:t>
            </a:r>
            <a:r>
              <a:rPr lang="pl-PL" b="0" i="0" dirty="0">
                <a:effectLst/>
                <a:latin typeface="Arial" panose="020B0604020202020204" pitchFamily="34" charset="0"/>
              </a:rPr>
              <a:t>dla ceny </a:t>
            </a:r>
            <a:r>
              <a:rPr lang="pl-PL" dirty="0">
                <a:latin typeface="Arial" panose="020B0604020202020204" pitchFamily="34" charset="0"/>
              </a:rPr>
              <a:t>otwarcia</a:t>
            </a:r>
            <a:r>
              <a:rPr lang="pl-PL" b="0" i="0" dirty="0">
                <a:effectLst/>
                <a:latin typeface="Arial" panose="020B0604020202020204" pitchFamily="34" charset="0"/>
              </a:rPr>
              <a:t> (</a:t>
            </a:r>
            <a:r>
              <a:rPr lang="pl-PL" dirty="0">
                <a:latin typeface="Arial" panose="020B0604020202020204" pitchFamily="34" charset="0"/>
              </a:rPr>
              <a:t>open</a:t>
            </a:r>
            <a:r>
              <a:rPr lang="pl-PL" b="0" i="0" dirty="0">
                <a:effectLst/>
                <a:latin typeface="Arial" panose="020B0604020202020204" pitchFamily="34" charset="0"/>
              </a:rPr>
              <a:t>) każdej akcji wskazują: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l-PL" b="1" i="0" dirty="0">
                <a:effectLst/>
                <a:latin typeface="Arial" panose="020B0604020202020204" pitchFamily="34" charset="0"/>
              </a:rPr>
              <a:t>AAPL</a:t>
            </a:r>
            <a:r>
              <a:rPr lang="pl-PL" b="0" i="0" dirty="0">
                <a:effectLst/>
                <a:latin typeface="Arial" panose="020B0604020202020204" pitchFamily="34" charset="0"/>
              </a:rPr>
              <a:t> :.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l-PL" b="1" i="0" dirty="0">
                <a:effectLst/>
                <a:latin typeface="Arial" panose="020B0604020202020204" pitchFamily="34" charset="0"/>
              </a:rPr>
              <a:t>MSFT</a:t>
            </a:r>
            <a:r>
              <a:rPr lang="pl-PL" b="0" i="0" dirty="0">
                <a:effectLst/>
                <a:latin typeface="Arial" panose="020B0604020202020204" pitchFamily="34" charset="0"/>
              </a:rPr>
              <a:t> :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l-PL" b="1" i="0" dirty="0">
                <a:effectLst/>
                <a:latin typeface="Arial" panose="020B0604020202020204" pitchFamily="34" charset="0"/>
              </a:rPr>
              <a:t>NFLX</a:t>
            </a:r>
            <a:r>
              <a:rPr lang="pl-PL" b="0" i="0" dirty="0">
                <a:effectLst/>
                <a:latin typeface="Arial" panose="020B0604020202020204" pitchFamily="34" charset="0"/>
              </a:rPr>
              <a:t> :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l-PL" b="1" i="0" dirty="0">
                <a:effectLst/>
                <a:latin typeface="Arial" panose="020B0604020202020204" pitchFamily="34" charset="0"/>
              </a:rPr>
              <a:t>GOOG</a:t>
            </a:r>
            <a:r>
              <a:rPr lang="pl-PL" b="0" i="0" dirty="0">
                <a:effectLst/>
                <a:latin typeface="Arial" panose="020B0604020202020204" pitchFamily="34" charset="0"/>
              </a:rPr>
              <a:t> :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E6B9FAA8-7AD0-0AD9-B2A8-03B912291747}"/>
              </a:ext>
            </a:extLst>
          </p:cNvPr>
          <p:cNvSpPr txBox="1"/>
          <p:nvPr/>
        </p:nvSpPr>
        <p:spPr>
          <a:xfrm>
            <a:off x="924949" y="3265772"/>
            <a:ext cx="1065276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l-PL" b="0" i="0" dirty="0">
                <a:effectLst/>
                <a:latin typeface="Arial" panose="020B0604020202020204" pitchFamily="34" charset="0"/>
              </a:rPr>
              <a:t>Wyniki rozszerzonego testu </a:t>
            </a:r>
            <a:r>
              <a:rPr lang="pl-PL" b="0" i="0" dirty="0" err="1">
                <a:effectLst/>
                <a:latin typeface="Arial" panose="020B0604020202020204" pitchFamily="34" charset="0"/>
              </a:rPr>
              <a:t>Dickeya</a:t>
            </a:r>
            <a:r>
              <a:rPr lang="pl-PL" b="0" i="0" dirty="0">
                <a:effectLst/>
                <a:latin typeface="Arial" panose="020B0604020202020204" pitchFamily="34" charset="0"/>
              </a:rPr>
              <a:t>-Fullera (ADF) </a:t>
            </a:r>
            <a:r>
              <a:rPr lang="pl-PL" b="1" i="0" dirty="0">
                <a:effectLst/>
                <a:latin typeface="Arial" panose="020B0604020202020204" pitchFamily="34" charset="0"/>
              </a:rPr>
              <a:t>po różnicowaniu</a:t>
            </a:r>
            <a:r>
              <a:rPr lang="pl-PL" b="0" i="0" dirty="0">
                <a:effectLst/>
                <a:latin typeface="Arial" panose="020B0604020202020204" pitchFamily="34" charset="0"/>
              </a:rPr>
              <a:t> dla ceny zamknięcia (</a:t>
            </a:r>
            <a:r>
              <a:rPr lang="pl-PL" b="0" i="0" dirty="0" err="1">
                <a:effectLst/>
                <a:latin typeface="Arial" panose="020B0604020202020204" pitchFamily="34" charset="0"/>
              </a:rPr>
              <a:t>close</a:t>
            </a:r>
            <a:r>
              <a:rPr lang="pl-PL" b="0" i="0" dirty="0">
                <a:effectLst/>
                <a:latin typeface="Arial" panose="020B0604020202020204" pitchFamily="34" charset="0"/>
              </a:rPr>
              <a:t>) każdej akcji wskazują: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l-PL" b="1" i="0" dirty="0">
                <a:effectLst/>
                <a:latin typeface="Arial" panose="020B0604020202020204" pitchFamily="34" charset="0"/>
              </a:rPr>
              <a:t>AAPL</a:t>
            </a:r>
            <a:r>
              <a:rPr lang="pl-PL" b="0" i="0" dirty="0">
                <a:effectLst/>
                <a:latin typeface="Arial" panose="020B0604020202020204" pitchFamily="34" charset="0"/>
              </a:rPr>
              <a:t> :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l-PL" b="1" i="0" dirty="0">
                <a:effectLst/>
                <a:latin typeface="Arial" panose="020B0604020202020204" pitchFamily="34" charset="0"/>
              </a:rPr>
              <a:t>MSFT</a:t>
            </a:r>
            <a:r>
              <a:rPr lang="pl-PL" b="0" i="0" dirty="0">
                <a:effectLst/>
                <a:latin typeface="Arial" panose="020B0604020202020204" pitchFamily="34" charset="0"/>
              </a:rPr>
              <a:t> :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l-PL" b="1" i="0" dirty="0">
                <a:effectLst/>
                <a:latin typeface="Arial" panose="020B0604020202020204" pitchFamily="34" charset="0"/>
              </a:rPr>
              <a:t>NFLX</a:t>
            </a:r>
            <a:r>
              <a:rPr lang="pl-PL" b="0" i="0" dirty="0">
                <a:effectLst/>
                <a:latin typeface="Arial" panose="020B0604020202020204" pitchFamily="34" charset="0"/>
              </a:rPr>
              <a:t> :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l-PL" b="1" i="0" dirty="0">
                <a:effectLst/>
                <a:latin typeface="Arial" panose="020B0604020202020204" pitchFamily="34" charset="0"/>
              </a:rPr>
              <a:t>GOOG</a:t>
            </a:r>
            <a:r>
              <a:rPr lang="pl-PL" b="0" i="0" dirty="0">
                <a:effectLst/>
                <a:latin typeface="Arial" panose="020B0604020202020204" pitchFamily="34" charset="0"/>
              </a:rPr>
              <a:t> :</a:t>
            </a:r>
            <a:endParaRPr lang="pl-PL" dirty="0">
              <a:latin typeface="Arial" panose="020B060402020202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C296D0FD-3E9F-7F5C-96E9-ADA49349E774}"/>
              </a:ext>
            </a:extLst>
          </p:cNvPr>
          <p:cNvSpPr txBox="1"/>
          <p:nvPr/>
        </p:nvSpPr>
        <p:spPr>
          <a:xfrm>
            <a:off x="924948" y="5363252"/>
            <a:ext cx="105261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0" i="0" dirty="0">
                <a:effectLst/>
                <a:latin typeface="Arial" panose="020B0604020202020204" pitchFamily="34" charset="0"/>
              </a:rPr>
              <a:t>Wszystkie szeregi różnicowe </a:t>
            </a:r>
            <a:r>
              <a:rPr lang="pl-PL" dirty="0">
                <a:latin typeface="Arial" panose="020B0604020202020204" pitchFamily="34" charset="0"/>
              </a:rPr>
              <a:t>powinny być teraz</a:t>
            </a:r>
            <a:r>
              <a:rPr lang="pl-PL" b="0" i="0" dirty="0">
                <a:effectLst/>
                <a:latin typeface="Arial" panose="020B0604020202020204" pitchFamily="34" charset="0"/>
              </a:rPr>
              <a:t> stacjonarne, co czyni je odpowiednimi do modelowania VAR na potrzeby prognozowania wielowymiarowych szeregów czasowych.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1569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D315A135-35D5-7547-09EF-F5EFE8FF3FBA}"/>
              </a:ext>
            </a:extLst>
          </p:cNvPr>
          <p:cNvSpPr txBox="1"/>
          <p:nvPr/>
        </p:nvSpPr>
        <p:spPr>
          <a:xfrm>
            <a:off x="3780692" y="314737"/>
            <a:ext cx="60983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400" b="1" i="0" dirty="0" err="1"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Szkolenie</a:t>
            </a:r>
            <a:r>
              <a:rPr lang="en-GB" sz="2400" b="1" i="0" dirty="0"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2400" b="1" i="0" dirty="0" err="1"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modelowe</a:t>
            </a:r>
            <a:endParaRPr lang="en-GB" sz="2400" b="1" i="0" dirty="0"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DFAE9647-9B55-218F-35BD-156A7B966D0A}"/>
              </a:ext>
            </a:extLst>
          </p:cNvPr>
          <p:cNvSpPr txBox="1"/>
          <p:nvPr/>
        </p:nvSpPr>
        <p:spPr>
          <a:xfrm>
            <a:off x="1234439" y="1120950"/>
            <a:ext cx="97946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0" i="0" dirty="0">
                <a:effectLst/>
                <a:latin typeface="Arial" panose="020B0604020202020204" pitchFamily="34" charset="0"/>
              </a:rPr>
              <a:t>Ponieważ pracujemy z relatywnie niewielkim zbiorem danych i krótkim przedziałem czasowym, przejdziemy do trenowania modelu VAR na całym zbiorze danych, najpierw </a:t>
            </a:r>
            <a:r>
              <a:rPr lang="pl-PL" b="1" i="0" dirty="0">
                <a:effectLst/>
                <a:latin typeface="Arial" panose="020B0604020202020204" pitchFamily="34" charset="0"/>
              </a:rPr>
              <a:t>dla cen otwarcia (open):</a:t>
            </a:r>
            <a:endParaRPr lang="en-GB" b="1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1B5930DE-D576-B05C-CEE2-817A9652E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9140"/>
            <a:ext cx="12192000" cy="2899719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A68D6838-9772-B277-75DF-B33F5176B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305" y="5147310"/>
            <a:ext cx="4333875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47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89C9D985-433B-EC85-CC94-A2100783B4E8}"/>
              </a:ext>
            </a:extLst>
          </p:cNvPr>
          <p:cNvSpPr txBox="1"/>
          <p:nvPr/>
        </p:nvSpPr>
        <p:spPr>
          <a:xfrm>
            <a:off x="317417" y="222796"/>
            <a:ext cx="363465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>
                <a:latin typeface="Arial" panose="020B0604020202020204" pitchFamily="34" charset="0"/>
              </a:rPr>
              <a:t>Z</a:t>
            </a:r>
            <a:r>
              <a:rPr lang="pl-PL" b="0" i="0" dirty="0">
                <a:effectLst/>
                <a:latin typeface="Arial" panose="020B0604020202020204" pitchFamily="34" charset="0"/>
              </a:rPr>
              <a:t>wizualizujemy teraz historyczne </a:t>
            </a:r>
            <a:r>
              <a:rPr lang="pl-PL" b="1" i="0" dirty="0">
                <a:effectLst/>
                <a:latin typeface="Arial" panose="020B0604020202020204" pitchFamily="34" charset="0"/>
              </a:rPr>
              <a:t>ceny </a:t>
            </a:r>
            <a:r>
              <a:rPr lang="pl-PL" b="1" dirty="0">
                <a:latin typeface="Arial" panose="020B0604020202020204" pitchFamily="34" charset="0"/>
              </a:rPr>
              <a:t>otwarcia (open)</a:t>
            </a:r>
            <a:r>
              <a:rPr lang="pl-PL" b="1" i="0" dirty="0">
                <a:effectLst/>
                <a:latin typeface="Arial" panose="020B0604020202020204" pitchFamily="34" charset="0"/>
              </a:rPr>
              <a:t> </a:t>
            </a:r>
            <a:r>
              <a:rPr lang="pl-PL" b="0" i="0" dirty="0">
                <a:effectLst/>
                <a:latin typeface="Arial" panose="020B0604020202020204" pitchFamily="34" charset="0"/>
              </a:rPr>
              <a:t>wraz </a:t>
            </a:r>
            <a:r>
              <a:rPr lang="pl-PL" b="1" i="0" dirty="0">
                <a:effectLst/>
                <a:latin typeface="Arial" panose="020B0604020202020204" pitchFamily="34" charset="0"/>
              </a:rPr>
              <a:t>z prognozowanymi cenami dla każdej akcji na jednym wy</a:t>
            </a:r>
            <a:r>
              <a:rPr lang="pl-PL" b="0" i="0" dirty="0">
                <a:effectLst/>
                <a:latin typeface="Arial" panose="020B0604020202020204" pitchFamily="34" charset="0"/>
              </a:rPr>
              <a:t>kresie. Ta wizualizacja pomoże nam zrozumieć </a:t>
            </a:r>
            <a:r>
              <a:rPr lang="pl-PL" b="1" i="0" dirty="0">
                <a:effectLst/>
                <a:latin typeface="Arial" panose="020B0604020202020204" pitchFamily="34" charset="0"/>
              </a:rPr>
              <a:t>prognozę cen open </a:t>
            </a:r>
            <a:r>
              <a:rPr lang="pl-PL" b="0" i="0" dirty="0">
                <a:effectLst/>
                <a:latin typeface="Arial" panose="020B0604020202020204" pitchFamily="34" charset="0"/>
              </a:rPr>
              <a:t>w kontekście ostatnich trendów:</a:t>
            </a:r>
            <a:endParaRPr lang="en-GB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49E2CCFD-276E-31F7-5672-DAE2CA65A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5580" y="222796"/>
            <a:ext cx="7010400" cy="2962275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5A13F939-B65A-4187-757F-BF080E379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358" y="3075676"/>
            <a:ext cx="6120622" cy="3782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953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4373634D-12BB-E94F-1F62-D8FB5D4207D8}"/>
              </a:ext>
            </a:extLst>
          </p:cNvPr>
          <p:cNvSpPr txBox="1"/>
          <p:nvPr/>
        </p:nvSpPr>
        <p:spPr>
          <a:xfrm>
            <a:off x="1126410" y="230438"/>
            <a:ext cx="89224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0" i="0" dirty="0">
                <a:effectLst/>
                <a:latin typeface="Arial" panose="020B0604020202020204" pitchFamily="34" charset="0"/>
              </a:rPr>
              <a:t>Następnie przejdziemy do trenowania modelu VAR na całym zbiorze danych dla </a:t>
            </a:r>
            <a:r>
              <a:rPr lang="pl-PL" b="1" i="0" dirty="0">
                <a:effectLst/>
                <a:latin typeface="Arial" panose="020B0604020202020204" pitchFamily="34" charset="0"/>
              </a:rPr>
              <a:t>cen zamknięcia (</a:t>
            </a:r>
            <a:r>
              <a:rPr lang="pl-PL" b="1" i="0" dirty="0" err="1">
                <a:effectLst/>
                <a:latin typeface="Arial" panose="020B0604020202020204" pitchFamily="34" charset="0"/>
              </a:rPr>
              <a:t>close</a:t>
            </a:r>
            <a:r>
              <a:rPr lang="pl-PL" b="1" i="0" dirty="0">
                <a:effectLst/>
                <a:latin typeface="Arial" panose="020B0604020202020204" pitchFamily="34" charset="0"/>
              </a:rPr>
              <a:t>):</a:t>
            </a:r>
            <a:endParaRPr lang="en-GB" b="1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510B652F-73F5-8178-3CF3-920DA01E3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" y="1281026"/>
            <a:ext cx="12163425" cy="2533650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B6FFF9B7-DAC9-ED51-769A-4E224BC8A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5124" y="4218933"/>
            <a:ext cx="4057650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135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0BD970B5-A54F-EEF5-4BA5-1C2390369488}"/>
              </a:ext>
            </a:extLst>
          </p:cNvPr>
          <p:cNvSpPr txBox="1"/>
          <p:nvPr/>
        </p:nvSpPr>
        <p:spPr>
          <a:xfrm>
            <a:off x="320039" y="1397675"/>
            <a:ext cx="401920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>
                <a:latin typeface="Arial" panose="020B0604020202020204" pitchFamily="34" charset="0"/>
              </a:rPr>
              <a:t>Z</a:t>
            </a:r>
            <a:r>
              <a:rPr lang="pl-PL" b="0" i="0" dirty="0">
                <a:effectLst/>
                <a:latin typeface="Arial" panose="020B0604020202020204" pitchFamily="34" charset="0"/>
              </a:rPr>
              <a:t>wizualizujemy teraz historyczne </a:t>
            </a:r>
            <a:r>
              <a:rPr lang="pl-PL" b="1" i="0" dirty="0">
                <a:effectLst/>
                <a:latin typeface="Arial" panose="020B0604020202020204" pitchFamily="34" charset="0"/>
              </a:rPr>
              <a:t>ceny zamknięcia</a:t>
            </a:r>
            <a:r>
              <a:rPr lang="pl-PL" b="1" dirty="0">
                <a:latin typeface="Arial" panose="020B0604020202020204" pitchFamily="34" charset="0"/>
              </a:rPr>
              <a:t> (</a:t>
            </a:r>
            <a:r>
              <a:rPr lang="pl-PL" b="1" dirty="0" err="1">
                <a:latin typeface="Arial" panose="020B0604020202020204" pitchFamily="34" charset="0"/>
              </a:rPr>
              <a:t>close</a:t>
            </a:r>
            <a:r>
              <a:rPr lang="pl-PL" b="1" dirty="0">
                <a:latin typeface="Arial" panose="020B0604020202020204" pitchFamily="34" charset="0"/>
              </a:rPr>
              <a:t>)</a:t>
            </a:r>
            <a:r>
              <a:rPr lang="pl-PL" b="1" i="0" dirty="0">
                <a:effectLst/>
                <a:latin typeface="Arial" panose="020B0604020202020204" pitchFamily="34" charset="0"/>
              </a:rPr>
              <a:t> </a:t>
            </a:r>
            <a:r>
              <a:rPr lang="pl-PL" b="0" i="0" dirty="0">
                <a:effectLst/>
                <a:latin typeface="Arial" panose="020B0604020202020204" pitchFamily="34" charset="0"/>
              </a:rPr>
              <a:t>wraz </a:t>
            </a:r>
            <a:r>
              <a:rPr lang="pl-PL" b="1" i="0" dirty="0">
                <a:effectLst/>
                <a:latin typeface="Arial" panose="020B0604020202020204" pitchFamily="34" charset="0"/>
              </a:rPr>
              <a:t>z prognozowanymi cenami dla każdej akcji na jednym wykresie</a:t>
            </a:r>
            <a:r>
              <a:rPr lang="pl-PL" b="0" i="0" dirty="0">
                <a:effectLst/>
                <a:latin typeface="Arial" panose="020B0604020202020204" pitchFamily="34" charset="0"/>
              </a:rPr>
              <a:t>. Ta wizualizacja pomoże nam zrozumieć </a:t>
            </a:r>
            <a:r>
              <a:rPr lang="pl-PL" b="1" i="0" dirty="0">
                <a:effectLst/>
                <a:latin typeface="Arial" panose="020B0604020202020204" pitchFamily="34" charset="0"/>
              </a:rPr>
              <a:t>prognozę cen </a:t>
            </a:r>
            <a:r>
              <a:rPr lang="pl-PL" b="1" i="0" dirty="0" err="1">
                <a:effectLst/>
                <a:latin typeface="Arial" panose="020B0604020202020204" pitchFamily="34" charset="0"/>
              </a:rPr>
              <a:t>close</a:t>
            </a:r>
            <a:r>
              <a:rPr lang="pl-PL" b="1" i="0" dirty="0">
                <a:effectLst/>
                <a:latin typeface="Arial" panose="020B0604020202020204" pitchFamily="34" charset="0"/>
              </a:rPr>
              <a:t> </a:t>
            </a:r>
            <a:r>
              <a:rPr lang="pl-PL" b="0" i="0" dirty="0">
                <a:effectLst/>
                <a:latin typeface="Arial" panose="020B0604020202020204" pitchFamily="34" charset="0"/>
              </a:rPr>
              <a:t>w kontekście ostatnich trendów:</a:t>
            </a:r>
            <a:endParaRPr lang="en-GB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075BF72E-7BB3-7A44-2275-E4656E556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481" y="204701"/>
            <a:ext cx="7105650" cy="2857500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6531559F-B2EF-8742-34A3-033E7FABA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5234" y="3037869"/>
            <a:ext cx="6164134" cy="3820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0919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57B9A73F-52DD-CEFA-D8F3-205E2EC515B5}"/>
              </a:ext>
            </a:extLst>
          </p:cNvPr>
          <p:cNvSpPr txBox="1"/>
          <p:nvPr/>
        </p:nvSpPr>
        <p:spPr>
          <a:xfrm>
            <a:off x="2518117" y="590843"/>
            <a:ext cx="6386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600" b="1" dirty="0">
                <a:solidFill>
                  <a:srgbClr val="FF0000"/>
                </a:solidFill>
              </a:rPr>
              <a:t>ZADANIE</a:t>
            </a:r>
            <a:endParaRPr lang="en-GB" sz="3600" b="1" dirty="0">
              <a:solidFill>
                <a:srgbClr val="FF0000"/>
              </a:solidFill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3C08249F-9995-5F5C-CF08-476018C6C281}"/>
              </a:ext>
            </a:extLst>
          </p:cNvPr>
          <p:cNvSpPr txBox="1"/>
          <p:nvPr/>
        </p:nvSpPr>
        <p:spPr>
          <a:xfrm>
            <a:off x="2236763" y="1505243"/>
            <a:ext cx="69494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Wykonaj analogiczną analizę dla cen maksymalnych i minimalnych akcji: </a:t>
            </a:r>
            <a:r>
              <a:rPr lang="pl-PL" b="1" dirty="0"/>
              <a:t>high</a:t>
            </a:r>
            <a:r>
              <a:rPr lang="pl-PL" dirty="0"/>
              <a:t> i </a:t>
            </a:r>
            <a:r>
              <a:rPr lang="pl-PL" b="1" dirty="0" err="1"/>
              <a:t>low</a:t>
            </a:r>
            <a:endParaRPr lang="pl-PL" b="1" dirty="0"/>
          </a:p>
          <a:p>
            <a:endParaRPr lang="pl-PL" b="1" dirty="0"/>
          </a:p>
          <a:p>
            <a:r>
              <a:rPr lang="pl-PL" b="1" dirty="0"/>
              <a:t>Opisuj poszczególne kroki modelowania, </a:t>
            </a:r>
          </a:p>
          <a:p>
            <a:endParaRPr lang="pl-PL" b="1" dirty="0"/>
          </a:p>
          <a:p>
            <a:r>
              <a:rPr lang="pl-PL" b="1" dirty="0"/>
              <a:t>Oblicz wyniki testu ADF, w jego wyniku zastosuj różnicowanie (lub nie)</a:t>
            </a:r>
          </a:p>
          <a:p>
            <a:endParaRPr lang="pl-PL" b="1" dirty="0"/>
          </a:p>
          <a:p>
            <a:r>
              <a:rPr lang="pl-PL" b="1" dirty="0"/>
              <a:t>Zamieść wszystkie </a:t>
            </a:r>
            <a:r>
              <a:rPr lang="pl-PL" b="1" dirty="0" err="1"/>
              <a:t>outputs</a:t>
            </a:r>
            <a:r>
              <a:rPr lang="pl-PL" b="1" dirty="0"/>
              <a:t> (tabelki i wizualizacje, jak w powyższym wzorze.</a:t>
            </a:r>
          </a:p>
          <a:p>
            <a:endParaRPr lang="pl-PL" b="1" dirty="0"/>
          </a:p>
          <a:p>
            <a:r>
              <a:rPr lang="pl-PL" b="1" dirty="0" err="1"/>
              <a:t>Całośc</a:t>
            </a:r>
            <a:r>
              <a:rPr lang="pl-PL" b="1" dirty="0"/>
              <a:t> pracy prześlij do TEAMS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576129791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46F4382C69AAF4891EE0A579E04F27B" ma:contentTypeVersion="10" ma:contentTypeDescription="Utwórz nowy dokument." ma:contentTypeScope="" ma:versionID="55efd16b515a58aacc08a39ea408f048">
  <xsd:schema xmlns:xsd="http://www.w3.org/2001/XMLSchema" xmlns:xs="http://www.w3.org/2001/XMLSchema" xmlns:p="http://schemas.microsoft.com/office/2006/metadata/properties" xmlns:ns2="ae989b61-c228-4e23-ae61-9e60e2e810f3" xmlns:ns3="e94efa4c-2d07-4643-827b-c53d5f18f328" targetNamespace="http://schemas.microsoft.com/office/2006/metadata/properties" ma:root="true" ma:fieldsID="86161bb239a3d55d88f234fcdae06930" ns2:_="" ns3:_="">
    <xsd:import namespace="ae989b61-c228-4e23-ae61-9e60e2e810f3"/>
    <xsd:import namespace="e94efa4c-2d07-4643-827b-c53d5f18f32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989b61-c228-4e23-ae61-9e60e2e810f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Tagi obrazów" ma:readOnly="false" ma:fieldId="{5cf76f15-5ced-4ddc-b409-7134ff3c332f}" ma:taxonomyMulti="true" ma:sspId="99f285bf-9bc8-44af-a2ef-b39ca4f7da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4efa4c-2d07-4643-827b-c53d5f18f32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b4419e2-253f-4d63-9198-f5afb3422db4}" ma:internalName="TaxCatchAll" ma:showField="CatchAllData" ma:web="e94efa4c-2d07-4643-827b-c53d5f18f32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94efa4c-2d07-4643-827b-c53d5f18f328" xsi:nil="true"/>
    <lcf76f155ced4ddcb4097134ff3c332f xmlns="ae989b61-c228-4e23-ae61-9e60e2e810f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70F8F02-A0C9-4A32-8242-00577C72B428}"/>
</file>

<file path=customXml/itemProps2.xml><?xml version="1.0" encoding="utf-8"?>
<ds:datastoreItem xmlns:ds="http://schemas.openxmlformats.org/officeDocument/2006/customXml" ds:itemID="{052CFA33-B563-4D5A-8556-A7B2F90D9248}"/>
</file>

<file path=customXml/itemProps3.xml><?xml version="1.0" encoding="utf-8"?>
<ds:datastoreItem xmlns:ds="http://schemas.openxmlformats.org/officeDocument/2006/customXml" ds:itemID="{D9652705-3501-462F-8FCE-E440D152D5DC}"/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1065</Words>
  <Application>Microsoft Office PowerPoint</Application>
  <PresentationFormat>Panoramiczny</PresentationFormat>
  <Paragraphs>105</Paragraphs>
  <Slides>15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Marek Kruk</dc:creator>
  <cp:lastModifiedBy>Marek Kruk</cp:lastModifiedBy>
  <cp:revision>6</cp:revision>
  <dcterms:created xsi:type="dcterms:W3CDTF">2024-12-08T08:42:23Z</dcterms:created>
  <dcterms:modified xsi:type="dcterms:W3CDTF">2026-01-27T18:51:41Z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0x010100346F4382C69AAF4891EE0A579E04F27B</vt:lpwstr>
  </property>
</Properties>
</file>